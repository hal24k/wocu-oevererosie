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47"/>
    <p:restoredTop sz="94602"/>
  </p:normalViewPr>
  <p:slideViewPr>
    <p:cSldViewPr snapToGrid="0" snapToObjects="1">
      <p:cViewPr varScale="1">
        <p:scale>
          <a:sx n="95" d="100"/>
          <a:sy n="95" d="100"/>
        </p:scale>
        <p:origin x="200" y="9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7CB559-2D23-D14B-A83F-431A1A05227F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E2DC1A-EE7F-6647-A7AA-7F42F0920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572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Luke's model: gates (&lt; 2 jaar = automatisch verlies), dan 7 criteria met punten, winnaar krijgt alles, export bevat alleen de winnaar.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 err="1"/>
              <a:t>Oevererosietool</a:t>
            </a:r>
            <a:r>
              <a:rPr dirty="0"/>
              <a:t> — </a:t>
            </a:r>
            <a:r>
              <a:rPr dirty="0" err="1"/>
              <a:t>waar</a:t>
            </a:r>
            <a:r>
              <a:rPr dirty="0"/>
              <a:t> we </a:t>
            </a:r>
            <a:r>
              <a:rPr dirty="0" err="1"/>
              <a:t>staan</a:t>
            </a:r>
            <a:r>
              <a:rPr dirty="0"/>
              <a:t>, </a:t>
            </a:r>
            <a:r>
              <a:rPr dirty="0" err="1"/>
              <a:t>en</a:t>
            </a:r>
            <a:r>
              <a:rPr dirty="0"/>
              <a:t> hoe het product </a:t>
            </a:r>
            <a:r>
              <a:rPr dirty="0" err="1"/>
              <a:t>eruit</a:t>
            </a:r>
            <a:r>
              <a:rPr dirty="0"/>
              <a:t> </a:t>
            </a:r>
            <a:r>
              <a:rPr dirty="0" err="1"/>
              <a:t>gaat</a:t>
            </a:r>
            <a:r>
              <a:rPr dirty="0"/>
              <a:t> </a:t>
            </a:r>
            <a:r>
              <a:rPr dirty="0" err="1"/>
              <a:t>zien</a:t>
            </a:r>
            <a:endParaRPr dirty="0"/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Interne </a:t>
            </a:r>
            <a:r>
              <a:rPr dirty="0" err="1"/>
              <a:t>sessie</a:t>
            </a:r>
            <a:r>
              <a:rPr dirty="0"/>
              <a:t> 14 </a:t>
            </a:r>
            <a:r>
              <a:rPr dirty="0" err="1"/>
              <a:t>september</a:t>
            </a:r>
            <a:r>
              <a:rPr dirty="0"/>
              <a:t> 2026 · </a:t>
            </a:r>
            <a:r>
              <a:rPr dirty="0" err="1"/>
              <a:t>deel</a:t>
            </a:r>
            <a:r>
              <a:rPr dirty="0"/>
              <a:t> 1: </a:t>
            </a:r>
            <a:r>
              <a:rPr dirty="0" err="1"/>
              <a:t>modelverbetering</a:t>
            </a:r>
            <a:r>
              <a:rPr dirty="0"/>
              <a:t> · </a:t>
            </a:r>
            <a:r>
              <a:rPr dirty="0" err="1"/>
              <a:t>deel</a:t>
            </a:r>
            <a:r>
              <a:rPr dirty="0"/>
              <a:t> 2: </a:t>
            </a:r>
            <a:r>
              <a:rPr dirty="0" err="1"/>
              <a:t>eindproduct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Waar we staan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t>Strookjesmodel (R = 20, ≈ 5 m): één voorspelde oeverlijn per regio per jaar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interne sessie 14-09-2026 · 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E6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t>waarde</a:t>
                      </a:r>
                    </a:p>
                  </a:txBody>
                  <a:tcPr>
                    <a:solidFill>
                      <a:srgbClr val="E6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t>toelichting</a:t>
                      </a:r>
                    </a:p>
                  </a:txBody>
                  <a:tcPr>
                    <a:solidFill>
                      <a:srgbClr val="E6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t>Bevroren testset (aug)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3.99 → 2.27 → 2.13 → 1.37 → 0.85 m/jr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opschonen → historie → paren ≥ 2 jr → R = 20 (verschillende meetlatten, zie 26 aug)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t>Eerlijke run 7 sep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1.06 m/jr · skill +35 %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bevroren split · opgeschoonde levering (`_nearest`) · lengte-bemonstering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rPr dirty="0"/>
                        <a:t>Alleen </a:t>
                      </a:r>
                      <a:r>
                        <a:rPr dirty="0" err="1"/>
                        <a:t>strookjes</a:t>
                      </a:r>
                      <a:r>
                        <a:rPr dirty="0"/>
                        <a:t> in regio's </a:t>
                      </a:r>
                      <a:r>
                        <a:rPr dirty="0" err="1"/>
                        <a:t>mét</a:t>
                      </a:r>
                      <a:r>
                        <a:rPr dirty="0"/>
                        <a:t> VVR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1.04 m/jr · skill +37 %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2145 testrijen in 133 regio's · naïef 1.66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3A3D"/>
                          </a:solidFill>
                        </a:defRPr>
                      </a:pPr>
                      <a:r>
                        <a:t>Dekking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t>≥ 1 strookje met ≥ 3 meetjaren: 7 112 regio's (59 %) · met VVR 1 187 (82 %)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3A3D"/>
                          </a:solidFill>
                        </a:defRPr>
                      </a:pPr>
                      <a:r>
                        <a:rPr dirty="0"/>
                        <a:t>met ≥ 2 </a:t>
                      </a:r>
                      <a:r>
                        <a:rPr dirty="0" err="1"/>
                        <a:t>jaren</a:t>
                      </a:r>
                      <a:r>
                        <a:rPr dirty="0"/>
                        <a:t>: 9 784 (81 %) · </a:t>
                      </a:r>
                      <a:r>
                        <a:rPr dirty="0" err="1"/>
                        <a:t>eerlijk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te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scoren</a:t>
                      </a:r>
                      <a:r>
                        <a:rPr dirty="0"/>
                        <a:t> 3 738 (31 %)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062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Skill = hoeveel beter dan 'neem het historisch gemiddelde als snelheid'; m/jr zijn tussen meetlatten niet vergelijkbaar</a:t>
            </a:r>
          </a:p>
          <a:p>
            <a:pPr>
              <a:spcAft>
                <a:spcPts val="600"/>
              </a:spcAft>
              <a:defRPr sz="1500" b="0">
                <a:solidFill>
                  <a:srgbClr val="1F3A3D"/>
                </a:solidFill>
              </a:defRPr>
            </a:pPr>
            <a:r>
              <a:t>• Te bespreken: is skill op VVR-regio's de maat waar we op sturen?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Van scope naar voorspelling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t>Alle regio's naast de regio's met een VVR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interne sessie 14-09-2026 · 3</a:t>
            </a:r>
          </a:p>
        </p:txBody>
      </p:sp>
      <p:pic>
        <p:nvPicPr>
          <p:cNvPr id="5" name="Picture 4" descr="funnel_segment_vvr_202609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863840" cy="43232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1371600"/>
            <a:ext cx="3383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1F3A3D"/>
                </a:solidFill>
              </a:defRPr>
            </a:pPr>
            <a:r>
              <a:t>• Eis besproken 13 sep: minstens één strookje met drie meetjaren (de oorspronkelijke drie-tijdpunten-eis, nu per 5 m)</a:t>
            </a:r>
          </a:p>
          <a:p>
            <a:pPr>
              <a:spcAft>
                <a:spcPts val="400"/>
              </a:spcAft>
              <a:defRPr sz="1100" b="0">
                <a:solidFill>
                  <a:srgbClr val="1F3A3D"/>
                </a:solidFill>
              </a:defRPr>
            </a:pPr>
            <a:r>
              <a:t>• VVR-regio's zijn beter gedekt dan gemiddeld: 82 % haalt de eis, 43 % is eerlijk te scoren</a:t>
            </a:r>
          </a:p>
          <a:p>
            <a:pPr>
              <a:spcAft>
                <a:spcPts val="400"/>
              </a:spcAft>
              <a:defRPr sz="1100" b="0">
                <a:solidFill>
                  <a:srgbClr val="1F3A3D"/>
                </a:solidFill>
              </a:defRPr>
            </a:pPr>
            <a:r>
              <a:t>• Onze cleaning kost 577 regio's, bijna alles door twee regels uit het scalaire tijdperk: 'fragment' (&lt; 25 % van de regio gedekt) en 'te weinig punten' (&lt; 8 samples)</a:t>
            </a:r>
          </a:p>
          <a:p>
            <a:pPr>
              <a:spcAft>
                <a:spcPts val="400"/>
              </a:spcAft>
              <a:defRPr sz="1100" b="0">
                <a:solidFill>
                  <a:srgbClr val="1F3A3D"/>
                </a:solidFill>
              </a:defRPr>
            </a:pPr>
            <a:r>
              <a:t>• Te bespreken: die twee regels versoepelen voor strookjes, of vóór het hybride model zetten? En ≥ 2 of ≥ 3 jaren als eis?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Welke bron kiest het hybride model?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t>100 slechtst voorspelde regio's, gekleurd op de gekozen bron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interne sessie 14-09-2026 · 4</a:t>
            </a:r>
          </a:p>
        </p:txBody>
      </p:sp>
      <p:pic>
        <p:nvPicPr>
          <p:cNvPr id="5" name="Picture 4" descr="hybrid_pref_worst100_seg_202609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7863840" cy="58534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155448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F3A3D"/>
                </a:solidFill>
              </a:defRPr>
            </a:pPr>
            <a:r>
              <a:t>• 85 van de 100 slechtste hebben SAM-voorkeur, tegen 61 % van alle gescoorde regio's</a:t>
            </a:r>
          </a:p>
          <a:p>
            <a:pPr>
              <a:spcAft>
                <a:spcPts val="600"/>
              </a:spcAft>
              <a:defRPr sz="1200" b="0">
                <a:solidFill>
                  <a:srgbClr val="1F3A3D"/>
                </a:solidFill>
              </a:defRPr>
            </a:pPr>
            <a:r>
              <a:t>• Alle 85 via de puntentelling (0 via de datagate); 44 met 1–2 punten verschil</a:t>
            </a:r>
          </a:p>
          <a:p>
            <a:pPr>
              <a:spcAft>
                <a:spcPts val="600"/>
              </a:spcAft>
              <a:defRPr sz="1200" b="0">
                <a:solidFill>
                  <a:srgbClr val="1F3A3D"/>
                </a:solidFill>
              </a:defRPr>
            </a:pPr>
            <a:r>
              <a:t>• Gemiddelde fout 3.0× hoger bij SAM-voorkeur (1.05 vs 0.35 m/jr) — deels terrein</a:t>
            </a:r>
          </a:p>
          <a:p>
            <a:pPr>
              <a:spcAft>
                <a:spcPts val="600"/>
              </a:spcAft>
              <a:defRPr sz="1200" b="0">
                <a:solidFill>
                  <a:srgbClr val="1F3A3D"/>
                </a:solidFill>
              </a:defRPr>
            </a:pPr>
            <a:r>
              <a:t>• De telling weegt geometrie: afstand, gladheid, steilheid, aantal jaren. Niet tijd, niet voorspelbaarheid.</a:t>
            </a:r>
          </a:p>
          <a:p>
            <a:pPr>
              <a:spcAft>
                <a:spcPts val="600"/>
              </a:spcAft>
              <a:defRPr sz="1200" b="0">
                <a:solidFill>
                  <a:srgbClr val="1F3A3D"/>
                </a:solidFill>
              </a:defRPr>
            </a:pPr>
            <a:r>
              <a:t>• Te bespreken: both-lines export (beide bronnen per regio) — validatie én circa 2 200 extra regio's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Wat Etienne zag op de satellietbeelden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t>100 slechtst voorspelde SAM-regio's — ná onze filtering; hij beoordeelde 56, de 44 andere zijn niet bekeken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interne sessie 14-09-2026 · 5</a:t>
            </a:r>
          </a:p>
        </p:txBody>
      </p:sp>
      <p:pic>
        <p:nvPicPr>
          <p:cNvPr id="5" name="Picture 4" descr="etienne_causes_202609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863840" cy="37904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1554480"/>
            <a:ext cx="3383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1F3A3D"/>
                </a:solidFill>
              </a:defRPr>
            </a:pPr>
            <a:r>
              <a:t>• De regio's zijn de slechtste ná cleaning: de meting die de fout veroorzaakt kwam overal door onze regels heen</a:t>
            </a:r>
          </a:p>
          <a:p>
            <a:pPr>
              <a:spcAft>
                <a:spcPts val="600"/>
              </a:spcAft>
              <a:defRPr sz="1200" b="0">
                <a:solidFill>
                  <a:srgbClr val="1F3A3D"/>
                </a:solidFill>
              </a:defRPr>
            </a:pPr>
            <a:r>
              <a:t>• Teal = een regel verwijderde wél andere metingen in die regio</a:t>
            </a:r>
          </a:p>
          <a:p>
            <a:pPr>
              <a:spcAft>
                <a:spcPts val="600"/>
              </a:spcAft>
              <a:defRPr sz="1200" b="0">
                <a:solidFill>
                  <a:srgbClr val="1F3A3D"/>
                </a:solidFill>
              </a:defRPr>
            </a:pPr>
            <a:r>
              <a:t>• Bewolking vooral IJssel, schaduw vooral Maas; SAM accepteerde beelden tot 10 % bewolking</a:t>
            </a:r>
          </a:p>
          <a:p>
            <a:pPr>
              <a:spcAft>
                <a:spcPts val="600"/>
              </a:spcAft>
              <a:defRPr sz="1200" b="0">
                <a:solidFill>
                  <a:srgbClr val="1F3A3D"/>
                </a:solidFill>
              </a:defRPr>
            </a:pPr>
            <a:r>
              <a:t>• Schaduw stond telkens op één beeld; schepen wachten bij sluizen; zand = werkzaamheden</a:t>
            </a:r>
          </a:p>
          <a:p>
            <a:pPr>
              <a:spcAft>
                <a:spcPts val="600"/>
              </a:spcAft>
              <a:defRPr sz="1200" b="0">
                <a:solidFill>
                  <a:srgbClr val="1F3A3D"/>
                </a:solidFill>
              </a:defRPr>
            </a:pPr>
            <a:r>
              <a:t>• Twee regio's 'Erosie': echte, grote erosie die het model miste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Zeven oorzaken, één voorbeeld elk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interne sessie 14-09-2026 · 6</a:t>
            </a:r>
          </a:p>
        </p:txBody>
      </p:sp>
      <p:pic>
        <p:nvPicPr>
          <p:cNvPr id="4" name="Picture 3" descr="cause_examples_202609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64240" cy="57775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Per oorzaak: mogelijke fix, en waar in de keten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t>Wat vóór het hybride model kan, hoeft het hybride model niet te leren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interne sessie 14-09-2026 · 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673341"/>
              </p:ext>
            </p:extLst>
          </p:nvPr>
        </p:nvGraphicFramePr>
        <p:xfrm>
          <a:off x="548640" y="1554480"/>
          <a:ext cx="9144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t>oorzaak</a:t>
                      </a:r>
                    </a:p>
                  </a:txBody>
                  <a:tcPr>
                    <a:solidFill>
                      <a:srgbClr val="E6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t>mogelijke fix</a:t>
                      </a:r>
                    </a:p>
                  </a:txBody>
                  <a:tcPr>
                    <a:solidFill>
                      <a:srgbClr val="E6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t>waar</a:t>
                      </a:r>
                    </a:p>
                  </a:txBody>
                  <a:tcPr>
                    <a:solidFill>
                      <a:srgbClr val="E6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t>Bewolking (≈ 23 van 56)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bewolkingsdrempel 10 % → 0–5 % bij de SAM-verwerking; herverwerking IJssel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vóór hybride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t>Nevengeul (12)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masker: officiële laag + vegetatielegger 'Water'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vóór hybride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t>Schepen bij sluizen (5)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ruimer masker rond sluis_stuw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vóór hybride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t>Schaduw (8)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per beeld; geen geometrische regel — model-toets op de nieuwste meting?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ná hybride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t>Werkzaamheden (2) / ingrepen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zand op het beeld; Satellietdataportaal als check bij hoogtemodel-uitschieters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ná hybride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t>Verkeerde bron gekozen (85 van 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both-lines export; onze maskers vóór de puntentelling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hybride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t>Onze eigen dekkingsregels (577 regio's)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'fragment' en 'te weinig punten' versoepelen voor strookjes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ná hybride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t>Te weinig meetjaren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meer DTM-jaren? SAM-jaren via both-lines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rPr dirty="0" err="1"/>
                        <a:t>bron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21208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1F3A3D"/>
                </a:solidFill>
              </a:defRPr>
            </a:pPr>
            <a:r>
              <a:rPr dirty="0"/>
              <a:t>• </a:t>
            </a:r>
            <a:r>
              <a:rPr dirty="0" err="1"/>
              <a:t>Te</a:t>
            </a:r>
            <a:r>
              <a:rPr dirty="0"/>
              <a:t> </a:t>
            </a:r>
            <a:r>
              <a:rPr dirty="0" err="1"/>
              <a:t>bespreken</a:t>
            </a:r>
            <a:r>
              <a:rPr dirty="0"/>
              <a:t>: </a:t>
            </a:r>
            <a:r>
              <a:rPr dirty="0" err="1"/>
              <a:t>volgorde</a:t>
            </a:r>
            <a:r>
              <a:rPr dirty="0"/>
              <a:t>, </a:t>
            </a:r>
            <a:r>
              <a:rPr dirty="0" err="1"/>
              <a:t>en</a:t>
            </a:r>
            <a:r>
              <a:rPr dirty="0"/>
              <a:t> wat </a:t>
            </a:r>
            <a:r>
              <a:rPr dirty="0" err="1"/>
              <a:t>wij</a:t>
            </a:r>
            <a:r>
              <a:rPr dirty="0"/>
              <a:t> </a:t>
            </a:r>
            <a:r>
              <a:rPr dirty="0" err="1"/>
              <a:t>zelf</a:t>
            </a:r>
            <a:r>
              <a:rPr dirty="0"/>
              <a:t> </a:t>
            </a:r>
            <a:r>
              <a:rPr dirty="0" err="1"/>
              <a:t>oppakken</a:t>
            </a:r>
            <a:r>
              <a:rPr dirty="0"/>
              <a:t> </a:t>
            </a:r>
            <a:r>
              <a:rPr dirty="0" err="1"/>
              <a:t>tegenover</a:t>
            </a:r>
            <a:r>
              <a:rPr dirty="0"/>
              <a:t> wat we </a:t>
            </a:r>
            <a:r>
              <a:rPr dirty="0" err="1"/>
              <a:t>vragen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Nevengeul en sluizen: vóór het hybride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t>Beide zijn maskers op de lijnen, geen modelregels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interne sessie 14-09-2026 · 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566160" cy="548640"/>
          </a:xfrm>
          <a:prstGeom prst="rect">
            <a:avLst/>
          </a:prstGeom>
          <a:solidFill>
            <a:srgbClr val="2B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Nevengeul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F3A3D"/>
                </a:solidFill>
              </a:defRPr>
            </a:pPr>
            <a:r>
              <a:t>• Officiële laag zit al in onze scope-data: 105 vlakken, 49.7 km²</a:t>
            </a:r>
          </a:p>
          <a:p>
            <a:pPr>
              <a:spcAft>
                <a:spcPts val="600"/>
              </a:spcAft>
              <a:defRPr sz="1300" b="0">
                <a:solidFill>
                  <a:srgbClr val="1F3A3D"/>
                </a:solidFill>
              </a:defRPr>
            </a:pPr>
            <a:r>
              <a:t>• 8 van Etienne's 12 nevengeul-regio's liggen erbinnen; in 6 raakt een masker ≥ 10 % van de metingen</a:t>
            </a:r>
          </a:p>
          <a:p>
            <a:pPr>
              <a:spcAft>
                <a:spcPts val="600"/>
              </a:spcAft>
              <a:defRPr sz="1300" b="0">
                <a:solidFill>
                  <a:srgbClr val="1F3A3D"/>
                </a:solidFill>
              </a:defRPr>
            </a:pPr>
            <a:r>
              <a:t>• De andere 4: strangen en plassen — vegetatielegger 'Water' erbij</a:t>
            </a:r>
          </a:p>
          <a:p>
            <a:pPr>
              <a:spcAft>
                <a:spcPts val="600"/>
              </a:spcAft>
              <a:defRPr sz="1300" b="0">
                <a:solidFill>
                  <a:srgbClr val="1F3A3D"/>
                </a:solidFill>
              </a:defRPr>
            </a:pPr>
            <a:r>
              <a:t>• 1 765 regio's raken een nevengeul: metingen maskeren, geen regio's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566160" cy="548640"/>
          </a:xfrm>
          <a:prstGeom prst="rect">
            <a:avLst/>
          </a:prstGeom>
          <a:solidFill>
            <a:srgbClr val="2B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Sluizen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37744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F3A3D"/>
                </a:solidFill>
              </a:defRPr>
            </a:pPr>
            <a:r>
              <a:t>• Schepen wachten bij sluizen; 4 van 5 gevallen raakten we al deels</a:t>
            </a:r>
          </a:p>
          <a:p>
            <a:pPr>
              <a:spcAft>
                <a:spcPts val="600"/>
              </a:spcAft>
              <a:defRPr sz="1300" b="0">
                <a:solidFill>
                  <a:srgbClr val="1F3A3D"/>
                </a:solidFill>
              </a:defRPr>
            </a:pPr>
            <a:r>
              <a:t>• Masker rond sluis_stuw nu 10 m; kunstwerkenlaag hebben we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645920"/>
            <a:ext cx="3566160" cy="548640"/>
          </a:xfrm>
          <a:prstGeom prst="rect">
            <a:avLst/>
          </a:prstGeom>
          <a:solidFill>
            <a:srgbClr val="E07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Te bespreken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37744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F3A3D"/>
                </a:solidFill>
              </a:defRPr>
            </a:pPr>
            <a:r>
              <a:t>• Wie past het toe: wij op de levering, of Lars/Luke vóór de puntentelling?</a:t>
            </a:r>
          </a:p>
          <a:p>
            <a:pPr>
              <a:spcAft>
                <a:spcPts val="600"/>
              </a:spcAft>
              <a:defRPr sz="1300" b="0">
                <a:solidFill>
                  <a:srgbClr val="1F3A3D"/>
                </a:solidFill>
              </a:defRPr>
            </a:pPr>
            <a:r>
              <a:t>• Zelfde masker voor het hoogtemodel?</a:t>
            </a:r>
          </a:p>
          <a:p>
            <a:pPr>
              <a:spcAft>
                <a:spcPts val="600"/>
              </a:spcAft>
              <a:defRPr sz="1300" b="0">
                <a:solidFill>
                  <a:srgbClr val="1F3A3D"/>
                </a:solidFill>
              </a:defRPr>
            </a:pPr>
            <a:r>
              <a:t>• Toets: skill op VVR-strookjes voor/na, plus de echte-erosie-regio's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Te bespreken met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interne sessie 14-09-2026 · 9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3566160" cy="548640"/>
          </a:xfrm>
          <a:prstGeom prst="rect">
            <a:avLst/>
          </a:prstGeom>
          <a:solidFill>
            <a:srgbClr val="2B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US" dirty="0"/>
              <a:t>SAM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3A3D"/>
                </a:solidFill>
              </a:defRPr>
            </a:pPr>
            <a:r>
              <a:t>• Bewolkingsdrempel 10 % → 0–5 %: haalbaar, en voor welke jaren?</a:t>
            </a:r>
          </a:p>
          <a:p>
            <a:pPr>
              <a:spcAft>
                <a:spcPts val="600"/>
              </a:spcAft>
              <a:defRPr sz="1400" b="0">
                <a:solidFill>
                  <a:srgbClr val="1F3A3D"/>
                </a:solidFill>
              </a:defRPr>
            </a:pPr>
            <a:r>
              <a:t>• Herverwerking IJssel met wolkmasker of infrarood?</a:t>
            </a:r>
          </a:p>
          <a:p>
            <a:pPr>
              <a:spcAft>
                <a:spcPts val="600"/>
              </a:spcAft>
              <a:defRPr sz="1400" b="0">
                <a:solidFill>
                  <a:srgbClr val="1F3A3D"/>
                </a:solidFill>
              </a:defRPr>
            </a:pPr>
            <a:r>
              <a:t>• Kwaliteitsvlag per meting meeleveren?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566160" cy="548640"/>
          </a:xfrm>
          <a:prstGeom prst="rect">
            <a:avLst/>
          </a:prstGeom>
          <a:solidFill>
            <a:srgbClr val="2B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US" dirty="0"/>
              <a:t>Hybride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389120" y="237744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3A3D"/>
                </a:solidFill>
              </a:defRPr>
            </a:pPr>
            <a:r>
              <a:t>• Both-lines export: beide bronnen per regio?</a:t>
            </a:r>
          </a:p>
          <a:p>
            <a:pPr>
              <a:spcAft>
                <a:spcPts val="600"/>
              </a:spcAft>
              <a:defRPr sz="1400" b="0">
                <a:solidFill>
                  <a:srgbClr val="1F3A3D"/>
                </a:solidFill>
              </a:defRPr>
            </a:pPr>
            <a:r>
              <a:t>• Onze maskers vóór de puntentelling toepassen?</a:t>
            </a:r>
          </a:p>
          <a:p>
            <a:pPr>
              <a:spcAft>
                <a:spcPts val="600"/>
              </a:spcAft>
              <a:defRPr sz="1400" b="0">
                <a:solidFill>
                  <a:srgbClr val="1F3A3D"/>
                </a:solidFill>
              </a:defRPr>
            </a:pPr>
            <a:r>
              <a:t>• Test-fout als criterium naast geometrie?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645920"/>
            <a:ext cx="3566160" cy="548640"/>
          </a:xfrm>
          <a:prstGeom prst="rect">
            <a:avLst/>
          </a:prstGeom>
          <a:solidFill>
            <a:srgbClr val="2B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US" dirty="0" err="1"/>
              <a:t>Overig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8229600" y="2377440"/>
            <a:ext cx="35661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1F3A3D"/>
                </a:solidFill>
              </a:defRPr>
            </a:pPr>
            <a:r>
              <a:rPr dirty="0"/>
              <a:t>• Bij </a:t>
            </a:r>
            <a:r>
              <a:rPr dirty="0" err="1"/>
              <a:t>welke</a:t>
            </a:r>
            <a:r>
              <a:rPr dirty="0"/>
              <a:t> </a:t>
            </a:r>
            <a:r>
              <a:rPr dirty="0" err="1"/>
              <a:t>snelheid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VVR-</a:t>
            </a:r>
            <a:r>
              <a:rPr dirty="0" err="1"/>
              <a:t>afstand</a:t>
            </a:r>
            <a:r>
              <a:rPr dirty="0"/>
              <a:t> </a:t>
            </a:r>
            <a:r>
              <a:rPr dirty="0" err="1"/>
              <a:t>grijpt</a:t>
            </a:r>
            <a:r>
              <a:rPr dirty="0"/>
              <a:t> RWS in?</a:t>
            </a:r>
          </a:p>
          <a:p>
            <a:pPr>
              <a:spcAft>
                <a:spcPts val="600"/>
              </a:spcAft>
              <a:defRPr sz="1400" b="0">
                <a:solidFill>
                  <a:srgbClr val="1F3A3D"/>
                </a:solidFill>
              </a:defRPr>
            </a:pPr>
            <a:r>
              <a:rPr dirty="0"/>
              <a:t>• 10–20 </a:t>
            </a:r>
            <a:r>
              <a:rPr dirty="0" err="1"/>
              <a:t>bekende</a:t>
            </a:r>
            <a:r>
              <a:rPr dirty="0"/>
              <a:t> </a:t>
            </a:r>
            <a:r>
              <a:rPr dirty="0" err="1"/>
              <a:t>probleemlocaties</a:t>
            </a:r>
            <a:r>
              <a:rPr dirty="0"/>
              <a:t> </a:t>
            </a:r>
            <a:r>
              <a:rPr dirty="0" err="1"/>
              <a:t>voor</a:t>
            </a:r>
            <a:r>
              <a:rPr dirty="0"/>
              <a:t> </a:t>
            </a:r>
            <a:r>
              <a:rPr dirty="0" err="1"/>
              <a:t>kalibratie</a:t>
            </a:r>
            <a:r>
              <a:rPr dirty="0"/>
              <a:t>?</a:t>
            </a:r>
          </a:p>
          <a:p>
            <a:pPr>
              <a:spcAft>
                <a:spcPts val="600"/>
              </a:spcAft>
              <a:defRPr sz="1400" b="0">
                <a:solidFill>
                  <a:srgbClr val="1F3A3D"/>
                </a:solidFill>
              </a:defRPr>
            </a:pPr>
            <a:r>
              <a:rPr dirty="0"/>
              <a:t>• </a:t>
            </a:r>
            <a:r>
              <a:rPr dirty="0" err="1"/>
              <a:t>Vervanging</a:t>
            </a:r>
            <a:r>
              <a:rPr dirty="0"/>
              <a:t> Etienne tot ≈ 30 </a:t>
            </a:r>
            <a:r>
              <a:rPr dirty="0" err="1"/>
              <a:t>sep</a:t>
            </a:r>
            <a:r>
              <a:rPr dirty="0"/>
              <a:t>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Hoe meten we vooruitgang — en wat zeggen we in oktober?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interne sessie 14-09-2026 · 10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60350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E6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t>was</a:t>
                      </a:r>
                    </a:p>
                  </a:txBody>
                  <a:tcPr>
                    <a:solidFill>
                      <a:srgbClr val="E6F5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t>nu</a:t>
                      </a:r>
                    </a:p>
                  </a:txBody>
                  <a:tcPr>
                    <a:solidFill>
                      <a:srgbClr val="E6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t>Bevroren testset, strookjes ≥ 2 jr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3.99 (19 aug)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t>Skill t.o.v. naïef (eerlijke run)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−20 % (maart)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+35 %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t>Skill op VVR-strookjes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+37 %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F3A3D"/>
                          </a:solidFill>
                        </a:defRPr>
                      </a:pPr>
                      <a:r>
                        <a:t>Regio's met voorspelling (≥ 3 meetjaren in ≥ 1 strookje)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7 444 (maart)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3A3D"/>
                          </a:solidFill>
                        </a:defRPr>
                      </a:pPr>
                      <a:r>
                        <a:t>7 112 (bij ≥ 2 jaren: 9 784)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7512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1F3A3D"/>
                </a:solidFill>
              </a:defRPr>
            </a:pPr>
            <a:r>
              <a:t>• Te bespreken</a:t>
            </a:r>
          </a:p>
          <a:p>
            <a:pPr>
              <a:spcAft>
                <a:spcPts val="700"/>
              </a:spcAft>
              <a:defRPr sz="1400" b="0">
                <a:solidFill>
                  <a:srgbClr val="1F3A3D"/>
                </a:solidFill>
              </a:defRPr>
            </a:pPr>
            <a:r>
              <a:t>• Eén toets voor elke opschoonstap: skill op VVR-strookjes op de bevroren split, plus de echte-erosie-regio's?</a:t>
            </a:r>
          </a:p>
          <a:p>
            <a:pPr>
              <a:spcAft>
                <a:spcPts val="700"/>
              </a:spcAft>
              <a:defRPr sz="1400" b="0">
                <a:solidFill>
                  <a:srgbClr val="1F3A3D"/>
                </a:solidFill>
              </a:defRPr>
            </a:pPr>
            <a:r>
              <a:t>• Standaard omzetten naar de opgeschoonde levering en lengte-bemonstering; develop pushen; PR naar main</a:t>
            </a:r>
          </a:p>
          <a:p>
            <a:pPr>
              <a:spcAft>
                <a:spcPts val="700"/>
              </a:spcAft>
              <a:defRPr sz="1400" b="0">
                <a:solidFill>
                  <a:srgbClr val="1F3A3D"/>
                </a:solidFill>
              </a:defRPr>
            </a:pPr>
            <a:r>
              <a:t>• Oktober: een factor, of skill en dekking?</a:t>
            </a:r>
          </a:p>
          <a:p>
            <a:pPr>
              <a:spcAft>
                <a:spcPts val="700"/>
              </a:spcAft>
              <a:defRPr sz="1400" b="0">
                <a:solidFill>
                  <a:srgbClr val="1F3A3D"/>
                </a:solidFill>
              </a:defRPr>
            </a:pPr>
            <a:r>
              <a:t>• Idee: alle oude tijdpunten gebruiken om de níeuwste meting te voorspellen — als toets op die meting (uitschieter of echte verschuiving?)</a:t>
            </a:r>
          </a:p>
          <a:p>
            <a:pPr>
              <a:spcAft>
                <a:spcPts val="700"/>
              </a:spcAft>
              <a:defRPr sz="1400" b="0">
                <a:solidFill>
                  <a:srgbClr val="1F3A3D"/>
                </a:solidFill>
              </a:defRPr>
            </a:pPr>
            <a:r>
              <a:t>• Bijwerken met nieuwe leveringen: één pipeline-run per levering (bestaat); wat ontbreekt: versiebeheer en een verschil-overzicht tussen runs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Deel 2 — het eindproduct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Stoplicht 1 bestaat als GIS-lagen. Hoe komt het bij de gebruiker?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B5A6"/>
                </a:solidFill>
              </a:defRPr>
            </a:pPr>
            <a:r>
              <a:t>Stoplicht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3A3D"/>
                </a:solidFill>
              </a:defRPr>
            </a:pPr>
            <a:r>
              <a:t>Kruisingsjaar per regio: de voorspelde oever bereikt de landzijde van de VVR in minstens één strookje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778"/>
                </a:solidFill>
              </a:defRPr>
            </a:pPr>
            <a:r>
              <a:t>Oevererosietool · interne sessie 14-09-2026 · 12</a:t>
            </a:r>
          </a:p>
        </p:txBody>
      </p:sp>
      <p:pic>
        <p:nvPicPr>
          <p:cNvPr id="5" name="Picture 4" descr="vvr_kruising_map_20260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037345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0" y="155448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F3A3D"/>
                </a:solidFill>
              </a:defRPr>
            </a:pPr>
            <a:r>
              <a:t>• 1 325 regio's met een VVR: 132 al gekruist · 12 in 2027 · 47 vóór 2031 · 642 niet vóór 2050</a:t>
            </a:r>
          </a:p>
          <a:p>
            <a:pPr>
              <a:spcAft>
                <a:spcPts val="600"/>
              </a:spcAft>
              <a:defRPr sz="1300" b="0">
                <a:solidFill>
                  <a:srgbClr val="1F3A3D"/>
                </a:solidFill>
              </a:defRPr>
            </a:pPr>
            <a:r>
              <a:t>• Voorspelde oeverlijn per jaar 2026–2031: 9 759 regio's, 58 554 lijnen</a:t>
            </a:r>
          </a:p>
          <a:p>
            <a:pPr>
              <a:spcAft>
                <a:spcPts val="600"/>
              </a:spcAft>
              <a:defRPr sz="1300" b="0">
                <a:solidFill>
                  <a:srgbClr val="1F3A3D"/>
                </a:solidFill>
              </a:defRPr>
            </a:pPr>
            <a:r>
              <a:t>• Kaart: rood = snel; de reds liggen bovenop, dus dichte trajecten ogen roder dan de telling</a:t>
            </a:r>
          </a:p>
          <a:p>
            <a:pPr>
              <a:spcAft>
                <a:spcPts val="600"/>
              </a:spcAft>
              <a:defRPr sz="1300" b="0">
                <a:solidFill>
                  <a:srgbClr val="1F3A3D"/>
                </a:solidFill>
              </a:defRPr>
            </a:pPr>
            <a:r>
              <a:t>• Te bespreken: dit strookjes-jaar of het regio-jaar uit de pipeline (144 vs 91 vóór 2027)?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1334</Words>
  <Application>Microsoft Macintosh PowerPoint</Application>
  <PresentationFormat>Widescreen</PresentationFormat>
  <Paragraphs>138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Alexander Bakker</cp:lastModifiedBy>
  <cp:revision>7</cp:revision>
  <dcterms:created xsi:type="dcterms:W3CDTF">2013-01-27T09:14:16Z</dcterms:created>
  <dcterms:modified xsi:type="dcterms:W3CDTF">2026-09-14T11:18:51Z</dcterms:modified>
  <cp:category/>
</cp:coreProperties>
</file>