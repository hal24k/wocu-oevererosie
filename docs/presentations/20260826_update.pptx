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Zet de val: het maartcijfer zag er goed uit omdat de meetlat mild was — 3 à 4 jaar tussen metingen dempt de meetruis.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 is de hele presentatie in één plaatje. Alles ervoor is bewijs, alles erna is gevolg.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Oevererosietool — van lijn naar oever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Voortgang voorspellend model · wat we vonden · wat we nodig hebben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Update 26 augustus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Waar we in maart stonden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Eén rechte lijn per scopevlak, 3–4 jaar tussen metingen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2</a:t>
            </a:r>
          </a:p>
        </p:txBody>
      </p:sp>
      <p:pic>
        <p:nvPicPr>
          <p:cNvPr id="5" name="Picture 4" descr="march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49175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73736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Alleen hoogtemodel (AHN3 / AHN4 / AHN5)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Oever = één afstand tot de hartlijn per vlak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Fout 0,94 m/jr — maar het model verloor van 'neem het gemiddelde' (0,78)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Risicogevallen (&gt; 2 m/jr): 4,6 m/jr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7.444 vlakken met voorspelling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1206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778"/>
                </a:solidFill>
              </a:defRPr>
            </a:pPr>
            <a:r>
              <a:t>De fout leek laag omdat de input simpel was: rechte lijnen, lange tijdstappen.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Wat er sindsdien binnenkwam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Hybride levering: SAM + hoogtemodel, tot 11 meetmomenten, 1 jaar tussen t-punten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3</a:t>
            </a:r>
          </a:p>
        </p:txBody>
      </p:sp>
      <p:pic>
        <p:nvPicPr>
          <p:cNvPr id="5" name="Picture 4" descr="au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223760" cy="4062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73736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16.377 scopevlakken, 91.531 oeverlijnen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Fout sprong naar 4,1 m/jr — niet omdat het model slechter werd:</a:t>
            </a:r>
          </a:p>
          <a:p>
            <a:pPr lvl="1"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– dezelfde meetruis ÷ 4× kleiner tijdsverschil = 4× ruiziger doel</a:t>
            </a:r>
          </a:p>
          <a:p>
            <a:pPr lvl="1"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– ook de baseline ging van 0,78 naar 4,8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Voor het eerst verslaat het model de baseline (14 %)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Nieuw: 12 % van de meetmomenten heeft méér dan één lijn; fragmenten en 'doolhoven'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Drie assen om te verbeteren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Alle drie doorlopen, elk gemeten tegen dezelfde vaste testset van 1.174 vlakken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 · Opschonen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Verkeerde-oever-detecties verwijderen zónder de hele meting weg te gooien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Kribben, bruggen, nevengeulen, doolhoven, fragmenten, uitschieters in de tijd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Ruim 50 varianten, elk visueel gecontroleerd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 · Meerdere t-punten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3774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Snelheid als trend over álle metingen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Versnelling, terugkeer naar gemiddelde, recente helling als feature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Voorspellen op ≥ 2 jaar in plaats van jaar-op-jaar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 · Resolutie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Vijf segmenten per vlak in plaats van één afstand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Gemeten én voorspelde oever als lijn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Alarm zodra énig deel de signaleringslijn nadert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As 3 · Resolutie: van scalar naar oeverlijn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Eén afstand per vlak verbergt dat 20 m hard erodeert en 80 m stil ligt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5</a:t>
            </a:r>
          </a:p>
        </p:txBody>
      </p:sp>
      <p:pic>
        <p:nvPicPr>
          <p:cNvPr id="5" name="Picture 4" descr="r5_ijss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4340994" cy="4206240"/>
          </a:xfrm>
          <a:prstGeom prst="rect">
            <a:avLst/>
          </a:prstGeom>
        </p:spPr>
      </p:pic>
      <p:pic>
        <p:nvPicPr>
          <p:cNvPr id="6" name="Picture 5" descr="r5_rij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00200"/>
            <a:ext cx="4523874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5256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3A3D"/>
                </a:solidFill>
              </a:defRPr>
            </a:pPr>
            <a:r>
              <a:t>Wat je ziet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groen = gemeten oever per segment (2026)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bruin = voorspelde oever 2027 per segment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gestippeld = de oude voorspelling: één getal</a:t>
            </a:r>
          </a:p>
          <a:p>
            <a:pPr>
              <a:spcAft>
                <a:spcPts val="400"/>
              </a:spcAft>
              <a:defRPr sz="1300" b="1">
                <a:solidFill>
                  <a:srgbClr val="1F3A3D"/>
                </a:solidFill>
              </a:defRPr>
            </a:pPr>
            <a:r>
              <a:t>Wat het oplevert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IJssel-vlak: één getal zegt −6,7 m/jr; de segmenten lopen van −10,8 tot +7,0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De fout wordt níet groter als segmenten kleiner worden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Mediane positiefout op de horizon: 1,1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778"/>
                </a:solidFill>
              </a:defRPr>
            </a:pPr>
            <a:r>
              <a:t>R = 5 segmenten (≈ 20 m) · dichte bemonstering 60 punten per lijn · elk segment eigen meetreeks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As 2 · Voorspellen op twee jaar of langer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Zelfde doel (m/jr), zelfde fout, alleen andere paren van metingen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A3D"/>
                </a:solidFill>
              </a:defRPr>
            </a:pPr>
            <a:r>
              <a:t>Het probleem met één jaar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Hoogtemodel: opnames 3–5 jaar uit elkaar → snelheid is stabiel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SAM: jaarlijks → dezelfde meetruis gedeeld door 1 jaar → snelheid is grotendeels ruis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De huidige testset mengt beide; het 1-jaars-cijfer is daardoor 'ruis-gedomineerd'</a:t>
            </a:r>
          </a:p>
          <a:p>
            <a:pPr>
              <a:spcAft>
                <a:spcPts val="600"/>
              </a:spcAft>
              <a:defRPr sz="1600" b="1">
                <a:solidFill>
                  <a:srgbClr val="1F3A3D"/>
                </a:solidFill>
              </a:defRPr>
            </a:pPr>
            <a:r>
              <a:t>De regel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Train en test alleen op paren van metingen ≥ 2 jaar uit elkaar — en gebruik álle zulke paren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Eén vlak met 6 metingen levert 10 leervoorbeelden in plaats van 1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Wordt vanzelf beter met elk SAM-jaar (3-jaars-paren zijn er nu nog te weinig)</a:t>
            </a:r>
          </a:p>
          <a:p>
            <a:pPr>
              <a:spcAft>
                <a:spcPts val="600"/>
              </a:spcAft>
              <a:defRPr sz="1600" b="1">
                <a:solidFill>
                  <a:srgbClr val="1F3A3D"/>
                </a:solidFill>
              </a:defRPr>
            </a:pPr>
            <a:r>
              <a:t>Wat dit is en niet is</a:t>
            </a:r>
          </a:p>
          <a:p>
            <a:pPr>
              <a:spcAft>
                <a:spcPts val="600"/>
              </a:spcAft>
              <a:defRPr sz="1600" b="0">
                <a:solidFill>
                  <a:srgbClr val="1F3A3D"/>
                </a:solidFill>
              </a:defRPr>
            </a:pPr>
            <a:r>
              <a:t>• Dit is hoe het alarm gescoord wordt, niet een ander model: de 1-jaars-cijfers blijven bestaan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Scorebord — eerlijk gemeten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Alleen binnen een rij vergelijken: elke rij is een andere meetlat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1463040"/>
                <a:gridCol w="2194560"/>
                <a:gridCol w="256032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A3D"/>
                          </a:solidFill>
                        </a:defRPr>
                      </a:pPr>
                      <a:r>
                        <a:t>meetlat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3A3D"/>
                          </a:solidFill>
                        </a:defRPr>
                      </a:pPr>
                      <a:r>
                        <a:t>naïef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3A3D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3A3D"/>
                          </a:solidFill>
                        </a:defRPr>
                      </a:pPr>
                      <a:r>
                        <a:t>risicogevallen &gt; 2 m/jr</a:t>
                      </a:r>
                    </a:p>
                    <a:p>
                      <a:r>
                        <a:t>LGB / naïef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A3D"/>
                          </a:solidFill>
                        </a:defRPr>
                      </a:pPr>
                      <a:r>
                        <a:t>maart · hoogtemodel · 3–4 jr · per vlak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0,78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0,94  (−20 %)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4,6 / 5,5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A3D"/>
                          </a:solidFill>
                        </a:defRPr>
                      </a:pPr>
                      <a:r>
                        <a:t>19 aug · hybride · 1 jr · per vlak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4,79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4,12  (+14 %)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≈ 8,3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A3D"/>
                          </a:solidFill>
                        </a:defRPr>
                      </a:pPr>
                      <a:r>
                        <a:t>nu · zelfde 1-jr meetlat · eerlijke validatie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2,86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2,47  (+13 %)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5,0 / 6,3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A3D"/>
                          </a:solidFill>
                        </a:defRPr>
                      </a:pPr>
                      <a:r>
                        <a:t>nu · segment · ≥ 2 jr · eerlijke validatie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1,79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1,23  (+31 %)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3A3D"/>
                          </a:solidFill>
                        </a:defRPr>
                      </a:pPr>
                      <a:r>
                        <a:t>3,5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Eerlijk: de testset speelt geen rol meer bij het trainen (in maart en augustus wél) — strenger, en tóch lager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Binnen de hybride 1-jaars-meetlat: 4,12 → 2,47 en ≈ 8,3 → 5,0; vlakken met voorspelling 8.006 → 10.721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Het 1,23 is m/jr op een gladdere meetlat — lees het als '31 % beter dan niets doen', niet als '2× beter dan 2,47'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Toezegging 10× (op 4,12): nu 1,7× op die exacte meetlat, met strengere validatie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Waar kwam de winst vandaan?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Het model was nooit de bottleneck — de labels waren het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8</a:t>
            </a:r>
          </a:p>
        </p:txBody>
      </p:sp>
      <p:pic>
        <p:nvPicPr>
          <p:cNvPr id="5" name="Picture 4" descr="three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4690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B7778"/>
                </a:solidFill>
              </a:defRPr>
            </a:pPr>
            <a:r>
              <a:t>As 1 (opschonen): −1,72 m/jr · As 2 (modelleren): −0,14 m/jr · As 3 (resolutie) verandert de meetlat en staat hier niet 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Wat 'opschonen' betekende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Zeven regels — elk een gok naar iets dat iemand in deze zaal zéker weet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9</a:t>
            </a:r>
          </a:p>
        </p:txBody>
      </p:sp>
      <p:pic>
        <p:nvPicPr>
          <p:cNvPr id="5" name="Picture 4" descr="aug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498079" cy="42167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F3A3D"/>
                </a:solidFill>
              </a:defRPr>
            </a:pPr>
            <a:r>
              <a:t>• Is dit een krib, brug, steiger of kade?</a:t>
            </a:r>
          </a:p>
          <a:p>
            <a:pPr>
              <a:spcAft>
                <a:spcPts val="500"/>
              </a:spcAft>
              <a:defRPr sz="1400" b="0">
                <a:solidFill>
                  <a:srgbClr val="1F3A3D"/>
                </a:solidFill>
              </a:defRPr>
            </a:pPr>
            <a:r>
              <a:t>• Is dit de rivieroever of een nevengeul, plas of haven?</a:t>
            </a:r>
          </a:p>
          <a:p>
            <a:pPr>
              <a:spcAft>
                <a:spcPts val="500"/>
              </a:spcAft>
              <a:defRPr sz="1400" b="0">
                <a:solidFill>
                  <a:srgbClr val="1F3A3D"/>
                </a:solidFill>
              </a:defRPr>
            </a:pPr>
            <a:r>
              <a:t>• Is dit één oever of de overkant?</a:t>
            </a:r>
          </a:p>
          <a:p>
            <a:pPr>
              <a:spcAft>
                <a:spcPts val="500"/>
              </a:spcAft>
              <a:defRPr sz="1400" b="0">
                <a:solidFill>
                  <a:srgbClr val="1F3A3D"/>
                </a:solidFill>
              </a:defRPr>
            </a:pPr>
            <a:r>
              <a:t>• Is deze meting 15 m van de trend een fout of een echte gebeurtenis?</a:t>
            </a:r>
          </a:p>
          <a:p>
            <a:pPr>
              <a:spcAft>
                <a:spcPts val="500"/>
              </a:spcAft>
              <a:defRPr sz="1400" b="1">
                <a:solidFill>
                  <a:srgbClr val="1F3A3D"/>
                </a:solidFill>
              </a:defRPr>
            </a:pPr>
            <a:r>
              <a:t>Elke gok kost dekking of maakt fouten</a:t>
            </a:r>
          </a:p>
          <a:p>
            <a:pPr>
              <a:spcAft>
                <a:spcPts val="500"/>
              </a:spcAft>
              <a:defRPr sz="1400" b="0">
                <a:solidFill>
                  <a:srgbClr val="1F3A3D"/>
                </a:solidFill>
              </a:defRPr>
            </a:pPr>
            <a:r>
              <a:t>• 5,9 % van de metingen in 'normale' vlakken kwam uit een nevengeul</a:t>
            </a:r>
          </a:p>
          <a:p>
            <a:pPr>
              <a:spcAft>
                <a:spcPts val="500"/>
              </a:spcAft>
              <a:defRPr sz="1400" b="0">
                <a:solidFill>
                  <a:srgbClr val="1F3A3D"/>
                </a:solidFill>
              </a:defRPr>
            </a:pPr>
            <a:r>
              <a:t>• Kribben-masker alleen: 60 % van de lijnpunten bij een krib was géén oever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De eerste gok is al ingewisseld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Deze week geleverd: kribben landelijk + kunstwerken (bruggen, kades, steigers, sluizen)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10</a:t>
            </a:r>
          </a:p>
        </p:txBody>
      </p:sp>
      <p:pic>
        <p:nvPicPr>
          <p:cNvPr id="5" name="Picture 4" descr="structure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589520" cy="3921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73736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Kribben: 1.922 → 4.698 bij de scope (IJssel en Maas waren er niet)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Kunstwerken: 6.386 bij de scope, 3.884 gemaskeerd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Geen heuristiek meer, maar een laag</a:t>
            </a:r>
          </a:p>
          <a:p>
            <a:pPr>
              <a:spcAft>
                <a:spcPts val="600"/>
              </a:spcAft>
              <a:defRPr sz="1500" b="1">
                <a:solidFill>
                  <a:srgbClr val="1F3A3D"/>
                </a:solidFill>
              </a:defRPr>
            </a:pPr>
            <a:r>
              <a:t>Dit is het patroon: elke aanname vervangen door een feit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…en het is meteen meetbaar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Twee identieke runs, alleen de structurenlaag verschilt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11</a:t>
            </a:r>
          </a:p>
        </p:txBody>
      </p:sp>
      <p:pic>
        <p:nvPicPr>
          <p:cNvPr id="5" name="Picture 4" descr="structures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766560" cy="2826577"/>
          </a:xfrm>
          <a:prstGeom prst="rect">
            <a:avLst/>
          </a:prstGeom>
        </p:spPr>
      </p:pic>
      <p:pic>
        <p:nvPicPr>
          <p:cNvPr id="6" name="Picture 5" descr="krib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554480"/>
            <a:ext cx="4480560" cy="266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6766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Risicogevallen: 5,9 → 5,0 m/jr (−15 %)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224 vlakken vallen af: hun 'oever' wás een constructie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Segmentmodel bewoog niet (1,15 → 1,24): binnen de spreiding tussen splits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5720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B7778"/>
                </a:solidFill>
              </a:defRPr>
            </a:pPr>
            <a:r>
              <a:t>Nederrijn: kribvak vóór (links) en ná (rechts) het 10 m-masker — groen = gemeten lijnen, paars = signaleringslijn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Wat we vragen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Labelen is trial-and-error — geen eenmalige levering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Hoogtemodel-engineers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De vijfdeling (scope_coverage) meeleveren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Per lijn een vlag: 'dit is een constructie / verkeerde oever'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Bekende randgevallen: meeroeverig, hoogwater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SAM-engineers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3774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Kwaliteitsvlag per meting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Vooral: méér jaren — elk jaar maakt het model vanzelf beter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Waar mogelijk: één lijn per meetmoment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645920"/>
            <a:ext cx="3566160" cy="54864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Samen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Labelronde in QGIS: wij leveren de gesorteerde lijst twijfelgevallen, jullie het oordeel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Eerste ronde: ~200 vlakken, twee uur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Daarna meten we opnieuw — en zien we hoe ver opschonen alleen komt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Wat dit oplevert voor asset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Van 'dit vlak gemiddeld' naar 'deze 20 meter'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13</a:t>
            </a:r>
          </a:p>
        </p:txBody>
      </p:sp>
      <p:pic>
        <p:nvPicPr>
          <p:cNvPr id="5" name="Picture 4" descr="r5_rijn_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3388524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17373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Per segment een verwachte positie ≥ 2 jaar vooruit (48.000 segmenten, 10.000 vlakken)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Een vlak kleurt rood zodra énig segment de signaleringslijn nadert — met het segment erbij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Kribvakken en meerdelige vlakken worden daarmee vanzelf goed behandeld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Bestaande stoplicht-kaart en tijdslider blijven; dit komt er als laag bij</a:t>
            </a:r>
          </a:p>
          <a:p>
            <a:pPr>
              <a:spcAft>
                <a:spcPts val="600"/>
              </a:spcAft>
              <a:defRPr sz="1500" b="1">
                <a:solidFill>
                  <a:srgbClr val="1F3A3D"/>
                </a:solidFill>
              </a:defRPr>
            </a:pPr>
            <a:r>
              <a:t>Status: segmentvoorspellingen staan klaar; koppeling aan het VVR-alarm is de volgende stap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Samenvattend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A3D"/>
                </a:solidFill>
              </a:defRPr>
            </a:pPr>
            <a:r>
              <a:t>Model: klaar en eerlijk gevalideerd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t>• Hybride bron, opschoonregels, historie-features, testset buiten de training</a:t>
            </a:r>
          </a:p>
          <a:p>
            <a:pPr>
              <a:spcAft>
                <a:spcPts val="800"/>
              </a:spcAft>
              <a:defRPr sz="1800" b="1">
                <a:solidFill>
                  <a:srgbClr val="1F3A3D"/>
                </a:solidFill>
              </a:defRPr>
            </a:pPr>
            <a:r>
              <a:t>Van lijn naar oever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t>• Vijf segmenten per vlak; gemeten én voorspelde oever als lijn; positiefout ≈ 1 m</a:t>
            </a:r>
          </a:p>
          <a:p>
            <a:pPr>
              <a:spcAft>
                <a:spcPts val="800"/>
              </a:spcAft>
              <a:defRPr sz="1800" b="1">
                <a:solidFill>
                  <a:srgbClr val="1F3A3D"/>
                </a:solidFill>
              </a:defRPr>
            </a:pPr>
            <a:r>
              <a:t>Bottleneck: gelabelde input, niet het algoritme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t>• Opschonen leverde 3× zoveel als modelleren; elke regel is een gok die jullie zeker weten</a:t>
            </a:r>
          </a:p>
          <a:p>
            <a:pPr>
              <a:spcAft>
                <a:spcPts val="800"/>
              </a:spcAft>
              <a:defRPr sz="1800" b="1">
                <a:solidFill>
                  <a:srgbClr val="1F3A3D"/>
                </a:solidFill>
              </a:defRPr>
            </a:pPr>
            <a:r>
              <a:t>Volgende stap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t>• Labelronde met SAM- en hoogtemodel-engineers · VVR-alarm op segmentniveau · daarna opnieuw meten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