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9"/>
    <p:restoredTop sz="94687"/>
  </p:normalViewPr>
  <p:slideViewPr>
    <p:cSldViewPr snapToGrid="0" snapToObjects="1">
      <p:cViewPr>
        <p:scale>
          <a:sx n="190" d="100"/>
          <a:sy n="190" d="100"/>
        </p:scale>
        <p:origin x="768" y="6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BB5A6"/>
                </a:solidFill>
              </a:defRPr>
            </a:pPr>
            <a:r>
              <a:rPr dirty="0" err="1"/>
              <a:t>Waar</a:t>
            </a:r>
            <a:r>
              <a:rPr dirty="0"/>
              <a:t> we </a:t>
            </a:r>
            <a:r>
              <a:rPr dirty="0" err="1"/>
              <a:t>staan</a:t>
            </a:r>
            <a:r>
              <a:rPr dirty="0"/>
              <a:t>, </a:t>
            </a:r>
            <a:r>
              <a:rPr dirty="0" err="1"/>
              <a:t>en</a:t>
            </a:r>
            <a:r>
              <a:rPr dirty="0"/>
              <a:t> wat we </a:t>
            </a:r>
            <a:r>
              <a:rPr dirty="0" err="1"/>
              <a:t>vandaag</a:t>
            </a:r>
            <a:r>
              <a:rPr dirty="0"/>
              <a:t> </a:t>
            </a:r>
            <a:r>
              <a:rPr dirty="0" err="1"/>
              <a:t>nodig</a:t>
            </a:r>
            <a:r>
              <a:rPr dirty="0"/>
              <a:t> </a:t>
            </a:r>
            <a:r>
              <a:rPr dirty="0" err="1"/>
              <a:t>hebben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425354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3A3D"/>
                </a:solidFill>
              </a:defRPr>
            </a:pPr>
            <a:r>
              <a:rPr dirty="0"/>
              <a:t>De </a:t>
            </a:r>
            <a:r>
              <a:rPr dirty="0" err="1"/>
              <a:t>slechtste</a:t>
            </a:r>
            <a:r>
              <a:rPr dirty="0"/>
              <a:t> </a:t>
            </a:r>
            <a:r>
              <a:rPr dirty="0" err="1"/>
              <a:t>voorspellingen</a:t>
            </a:r>
            <a:r>
              <a:rPr dirty="0"/>
              <a:t> </a:t>
            </a:r>
            <a:r>
              <a:rPr dirty="0" err="1"/>
              <a:t>komen</a:t>
            </a:r>
            <a:r>
              <a:rPr dirty="0"/>
              <a:t> door </a:t>
            </a:r>
            <a:r>
              <a:rPr dirty="0" err="1"/>
              <a:t>een</a:t>
            </a:r>
            <a:r>
              <a:rPr dirty="0"/>
              <a:t> </a:t>
            </a:r>
            <a:r>
              <a:rPr dirty="0" err="1"/>
              <a:t>handvol</a:t>
            </a:r>
            <a:r>
              <a:rPr dirty="0"/>
              <a:t> </a:t>
            </a:r>
            <a:r>
              <a:rPr lang="en-US" dirty="0"/>
              <a:t>outliers. </a:t>
            </a:r>
            <a:r>
              <a:rPr lang="en-US" dirty="0" err="1"/>
              <a:t>Meeste</a:t>
            </a:r>
            <a:r>
              <a:rPr lang="en-US" dirty="0"/>
              <a:t> van </a:t>
            </a:r>
            <a:r>
              <a:rPr lang="en-US" dirty="0" err="1"/>
              <a:t>deze</a:t>
            </a:r>
            <a:r>
              <a:rPr lang="en-US" dirty="0"/>
              <a:t> </a:t>
            </a:r>
            <a:r>
              <a:rPr dirty="0" err="1"/>
              <a:t>vóór</a:t>
            </a:r>
            <a:r>
              <a:rPr dirty="0"/>
              <a:t> het </a:t>
            </a:r>
            <a:r>
              <a:rPr dirty="0" err="1"/>
              <a:t>hybride</a:t>
            </a:r>
            <a:r>
              <a:rPr dirty="0"/>
              <a:t> model op </a:t>
            </a:r>
            <a:r>
              <a:rPr dirty="0" err="1"/>
              <a:t>te</a:t>
            </a:r>
            <a:r>
              <a:rPr dirty="0"/>
              <a:t> </a:t>
            </a:r>
            <a:r>
              <a:rPr dirty="0" err="1"/>
              <a:t>lossen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778"/>
                </a:solidFill>
              </a:defRPr>
            </a:pPr>
            <a:r>
              <a:t>Oevererosietool · WOCU weekly 30-09-2026 ·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F3A3D"/>
                </a:solidFill>
              </a:defRPr>
            </a:pPr>
            <a:r>
              <a:rPr dirty="0" err="1"/>
              <a:t>Sinds</a:t>
            </a:r>
            <a:r>
              <a:rPr dirty="0"/>
              <a:t> 14 </a:t>
            </a:r>
            <a:r>
              <a:rPr dirty="0" err="1"/>
              <a:t>september</a:t>
            </a:r>
            <a:endParaRPr dirty="0"/>
          </a:p>
          <a:p>
            <a:pPr>
              <a:spcAft>
                <a:spcPts val="800"/>
              </a:spcAft>
              <a:defRPr sz="1800" b="0">
                <a:solidFill>
                  <a:srgbClr val="1F3A3D"/>
                </a:solidFill>
              </a:defRPr>
            </a:pPr>
            <a:r>
              <a:rPr dirty="0"/>
              <a:t>• Etienne's </a:t>
            </a:r>
            <a:r>
              <a:rPr dirty="0" err="1"/>
              <a:t>oorzaken</a:t>
            </a:r>
            <a:r>
              <a:rPr dirty="0"/>
              <a:t> </a:t>
            </a:r>
            <a:r>
              <a:rPr dirty="0" err="1"/>
              <a:t>gekoppeld</a:t>
            </a:r>
            <a:r>
              <a:rPr dirty="0"/>
              <a:t> </a:t>
            </a:r>
            <a:r>
              <a:rPr dirty="0" err="1"/>
              <a:t>aan</a:t>
            </a:r>
            <a:r>
              <a:rPr dirty="0"/>
              <a:t> de 100 </a:t>
            </a:r>
            <a:r>
              <a:rPr dirty="0" err="1"/>
              <a:t>slechtste</a:t>
            </a:r>
            <a:r>
              <a:rPr dirty="0"/>
              <a:t> SAM-regio's, in </a:t>
            </a:r>
            <a:r>
              <a:rPr dirty="0" err="1"/>
              <a:t>één</a:t>
            </a:r>
            <a:r>
              <a:rPr dirty="0"/>
              <a:t> </a:t>
            </a:r>
            <a:r>
              <a:rPr dirty="0" err="1"/>
              <a:t>galerij</a:t>
            </a:r>
            <a:r>
              <a:rPr dirty="0"/>
              <a:t> </a:t>
            </a:r>
            <a:r>
              <a:rPr dirty="0" err="1"/>
              <a:t>gesorteerd</a:t>
            </a:r>
            <a:r>
              <a:rPr dirty="0"/>
              <a:t> op </a:t>
            </a:r>
            <a:r>
              <a:rPr dirty="0" err="1"/>
              <a:t>oorzaak</a:t>
            </a:r>
            <a:endParaRPr dirty="0"/>
          </a:p>
          <a:p>
            <a:pPr>
              <a:spcAft>
                <a:spcPts val="800"/>
              </a:spcAft>
              <a:defRPr sz="1800" b="0">
                <a:solidFill>
                  <a:srgbClr val="1F3A3D"/>
                </a:solidFill>
              </a:defRPr>
            </a:pPr>
            <a:r>
              <a:rPr dirty="0"/>
              <a:t>• Een </a:t>
            </a:r>
            <a:r>
              <a:rPr dirty="0" err="1"/>
              <a:t>controle</a:t>
            </a:r>
            <a:r>
              <a:rPr dirty="0"/>
              <a:t> die per regio de meting </a:t>
            </a:r>
            <a:r>
              <a:rPr dirty="0" err="1"/>
              <a:t>vindt</a:t>
            </a:r>
            <a:r>
              <a:rPr dirty="0"/>
              <a:t> die </a:t>
            </a:r>
            <a:r>
              <a:rPr dirty="0" err="1"/>
              <a:t>afwijkt</a:t>
            </a:r>
            <a:r>
              <a:rPr dirty="0"/>
              <a:t> van de rest, </a:t>
            </a:r>
            <a:r>
              <a:rPr dirty="0" err="1"/>
              <a:t>langs</a:t>
            </a:r>
            <a:r>
              <a:rPr dirty="0"/>
              <a:t> de hele </a:t>
            </a:r>
            <a:r>
              <a:rPr dirty="0" err="1"/>
              <a:t>oever</a:t>
            </a:r>
            <a:endParaRPr dirty="0"/>
          </a:p>
          <a:p>
            <a:pPr>
              <a:spcAft>
                <a:spcPts val="800"/>
              </a:spcAft>
              <a:defRPr sz="1800" b="0">
                <a:solidFill>
                  <a:srgbClr val="1F3A3D"/>
                </a:solidFill>
              </a:defRPr>
            </a:pPr>
            <a:r>
              <a:rPr dirty="0"/>
              <a:t>• </a:t>
            </a:r>
            <a:r>
              <a:rPr dirty="0" err="1"/>
              <a:t>Eerste</a:t>
            </a:r>
            <a:r>
              <a:rPr dirty="0"/>
              <a:t> test van twee maskers: de RWS-legger </a:t>
            </a:r>
            <a:r>
              <a:rPr dirty="0" err="1"/>
              <a:t>nevengeulen</a:t>
            </a:r>
            <a:r>
              <a:rPr dirty="0"/>
              <a:t>,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ruimere</a:t>
            </a:r>
            <a:r>
              <a:rPr dirty="0"/>
              <a:t> buffers </a:t>
            </a:r>
            <a:r>
              <a:rPr dirty="0" err="1"/>
              <a:t>rond</a:t>
            </a:r>
            <a:r>
              <a:rPr dirty="0"/>
              <a:t> </a:t>
            </a:r>
            <a:r>
              <a:rPr dirty="0" err="1"/>
              <a:t>sluizen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lang="en-US" dirty="0"/>
              <a:t>center lines</a:t>
            </a:r>
            <a:br>
              <a:rPr lang="en-US" dirty="0"/>
            </a:br>
            <a:endParaRPr dirty="0"/>
          </a:p>
          <a:p>
            <a:pPr>
              <a:spcAft>
                <a:spcPts val="800"/>
              </a:spcAft>
              <a:defRPr sz="1800" b="1">
                <a:solidFill>
                  <a:srgbClr val="1F3A3D"/>
                </a:solidFill>
              </a:defRPr>
            </a:pPr>
            <a:r>
              <a:rPr dirty="0" err="1"/>
              <a:t>Vandaag</a:t>
            </a:r>
            <a:r>
              <a:rPr dirty="0"/>
              <a:t> </a:t>
            </a:r>
            <a:r>
              <a:rPr dirty="0" err="1"/>
              <a:t>nodig</a:t>
            </a:r>
            <a:endParaRPr dirty="0"/>
          </a:p>
          <a:p>
            <a:pPr>
              <a:spcAft>
                <a:spcPts val="800"/>
              </a:spcAft>
              <a:defRPr sz="1800" b="0">
                <a:solidFill>
                  <a:srgbClr val="1F3A3D"/>
                </a:solidFill>
              </a:defRPr>
            </a:pPr>
            <a:r>
              <a:rPr dirty="0"/>
              <a:t>• Luke: de </a:t>
            </a:r>
            <a:r>
              <a:rPr dirty="0" err="1"/>
              <a:t>lijnen</a:t>
            </a:r>
            <a:r>
              <a:rPr dirty="0"/>
              <a:t> die het </a:t>
            </a:r>
            <a:r>
              <a:rPr dirty="0" err="1"/>
              <a:t>hybride</a:t>
            </a:r>
            <a:r>
              <a:rPr dirty="0"/>
              <a:t> model </a:t>
            </a:r>
            <a:r>
              <a:rPr dirty="0" err="1"/>
              <a:t>ingaan</a:t>
            </a:r>
            <a:r>
              <a:rPr dirty="0"/>
              <a:t>, </a:t>
            </a:r>
            <a:r>
              <a:rPr dirty="0" err="1"/>
              <a:t>beide</a:t>
            </a:r>
            <a:r>
              <a:rPr dirty="0"/>
              <a:t> </a:t>
            </a:r>
            <a:r>
              <a:rPr dirty="0" err="1"/>
              <a:t>modellen</a:t>
            </a:r>
            <a:r>
              <a:rPr dirty="0"/>
              <a:t> per regi</a:t>
            </a:r>
            <a:r>
              <a:rPr lang="en-US" dirty="0"/>
              <a:t>o</a:t>
            </a:r>
          </a:p>
          <a:p>
            <a:pPr>
              <a:spcAft>
                <a:spcPts val="800"/>
              </a:spcAft>
              <a:defRPr sz="1800" b="0">
                <a:solidFill>
                  <a:srgbClr val="1F3A3D"/>
                </a:solidFill>
              </a:defRPr>
            </a:pPr>
            <a:r>
              <a:rPr lang="en-US" dirty="0"/>
              <a:t>• Status </a:t>
            </a:r>
            <a:r>
              <a:rPr lang="en-US" dirty="0" err="1"/>
              <a:t>hoogtedata</a:t>
            </a:r>
            <a:r>
              <a:rPr lang="en-US" dirty="0"/>
              <a:t> </a:t>
            </a:r>
            <a:r>
              <a:rPr lang="en-US" dirty="0" err="1"/>
              <a:t>Rijntakken</a:t>
            </a:r>
            <a:r>
              <a:rPr lang="en-US" dirty="0"/>
              <a:t>, wat </a:t>
            </a:r>
            <a:r>
              <a:rPr lang="en-US" dirty="0" err="1"/>
              <a:t>gaan</a:t>
            </a:r>
            <a:r>
              <a:rPr lang="en-US" dirty="0"/>
              <a:t> we </a:t>
            </a:r>
            <a:r>
              <a:rPr lang="en-US" dirty="0" err="1"/>
              <a:t>doen</a:t>
            </a:r>
            <a:r>
              <a:rPr lang="en-US" dirty="0"/>
              <a:t> </a:t>
            </a:r>
            <a:r>
              <a:rPr lang="en-US" dirty="0" err="1"/>
              <a:t>ermee</a:t>
            </a:r>
            <a:r>
              <a:rPr lang="en-US" dirty="0"/>
              <a:t>?</a:t>
            </a:r>
            <a:endParaRPr dirty="0"/>
          </a:p>
          <a:p>
            <a:pPr>
              <a:spcAft>
                <a:spcPts val="800"/>
              </a:spcAft>
              <a:defRPr sz="1800" b="0">
                <a:solidFill>
                  <a:srgbClr val="1F3A3D"/>
                </a:solidFill>
              </a:defRPr>
            </a:pPr>
            <a:r>
              <a:rPr dirty="0"/>
              <a:t>• Etienne: het </a:t>
            </a:r>
            <a:r>
              <a:rPr dirty="0" err="1"/>
              <a:t>bewolkingspercentage</a:t>
            </a:r>
            <a:r>
              <a:rPr dirty="0"/>
              <a:t> op </a:t>
            </a:r>
            <a:r>
              <a:rPr dirty="0" err="1"/>
              <a:t>elke</a:t>
            </a:r>
            <a:r>
              <a:rPr dirty="0"/>
              <a:t> SAM-</a:t>
            </a:r>
            <a:r>
              <a:rPr dirty="0" err="1"/>
              <a:t>lijn</a:t>
            </a:r>
            <a:r>
              <a:rPr dirty="0"/>
              <a:t> (of exports </a:t>
            </a:r>
            <a:r>
              <a:rPr dirty="0" err="1"/>
              <a:t>bij</a:t>
            </a:r>
            <a:r>
              <a:rPr dirty="0"/>
              <a:t> 0 % </a:t>
            </a:r>
            <a:r>
              <a:rPr dirty="0" err="1"/>
              <a:t>en</a:t>
            </a:r>
            <a:r>
              <a:rPr dirty="0"/>
              <a:t> 5 %),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een</a:t>
            </a:r>
            <a:r>
              <a:rPr dirty="0"/>
              <a:t> </a:t>
            </a:r>
            <a:r>
              <a:rPr dirty="0" err="1"/>
              <a:t>blik</a:t>
            </a:r>
            <a:r>
              <a:rPr dirty="0"/>
              <a:t> op de maskers</a:t>
            </a:r>
          </a:p>
          <a:p>
            <a:pPr>
              <a:spcAft>
                <a:spcPts val="800"/>
              </a:spcAft>
              <a:defRPr sz="1800" b="1">
                <a:solidFill>
                  <a:srgbClr val="1F3A3D"/>
                </a:solidFill>
              </a:defRPr>
            </a:pPr>
            <a:br>
              <a:rPr lang="en-US" dirty="0"/>
            </a:br>
            <a:r>
              <a:rPr dirty="0" err="1"/>
              <a:t>Volgende</a:t>
            </a:r>
            <a:r>
              <a:rPr dirty="0"/>
              <a:t> </a:t>
            </a:r>
            <a:r>
              <a:rPr dirty="0" err="1"/>
              <a:t>mijlpaal</a:t>
            </a:r>
            <a:endParaRPr dirty="0"/>
          </a:p>
          <a:p>
            <a:pPr>
              <a:spcAft>
                <a:spcPts val="800"/>
              </a:spcAft>
              <a:defRPr sz="1800" b="0">
                <a:solidFill>
                  <a:srgbClr val="1F3A3D"/>
                </a:solidFill>
              </a:defRPr>
            </a:pPr>
            <a:r>
              <a:rPr lang="en-US" dirty="0"/>
              <a:t>• Preview meeting 14 oktober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BB5A6"/>
                </a:solidFill>
              </a:defRPr>
            </a:pPr>
            <a:r>
              <a:t>Waarom de slechtste regio's fout gaan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3A3D"/>
                </a:solidFill>
              </a:defRPr>
            </a:pPr>
            <a:r>
              <a:t>100 slechtst voorspelde SAM-regio's ná onze opschoning — Etienne beoordeelde er 56 op de satellietbeelden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778"/>
                </a:solidFill>
              </a:defRPr>
            </a:pPr>
            <a:r>
              <a:t>Oevererosietool · WOCU weekly 30-09-2026 · 2</a:t>
            </a:r>
          </a:p>
        </p:txBody>
      </p:sp>
      <p:pic>
        <p:nvPicPr>
          <p:cNvPr id="5" name="Picture 4" descr="causes_chart_nl_202609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4980940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645920"/>
            <a:ext cx="5303520" cy="2811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F3A3D"/>
                </a:solidFill>
              </a:defRPr>
            </a:pPr>
            <a:r>
              <a:rPr dirty="0"/>
              <a:t>• Al </a:t>
            </a:r>
            <a:r>
              <a:rPr dirty="0" err="1"/>
              <a:t>deze</a:t>
            </a:r>
            <a:r>
              <a:rPr dirty="0"/>
              <a:t> regio's </a:t>
            </a:r>
            <a:r>
              <a:rPr dirty="0" err="1"/>
              <a:t>kwamen</a:t>
            </a:r>
            <a:r>
              <a:rPr dirty="0"/>
              <a:t> door </a:t>
            </a:r>
            <a:r>
              <a:rPr dirty="0" err="1"/>
              <a:t>onze</a:t>
            </a:r>
            <a:r>
              <a:rPr dirty="0"/>
              <a:t> </a:t>
            </a:r>
            <a:r>
              <a:rPr dirty="0" err="1"/>
              <a:t>huidige</a:t>
            </a:r>
            <a:r>
              <a:rPr dirty="0"/>
              <a:t> regels: de </a:t>
            </a:r>
            <a:r>
              <a:rPr dirty="0" err="1"/>
              <a:t>slechte</a:t>
            </a:r>
            <a:r>
              <a:rPr dirty="0"/>
              <a:t> </a:t>
            </a:r>
            <a:r>
              <a:rPr dirty="0" err="1"/>
              <a:t>lijn</a:t>
            </a:r>
            <a:r>
              <a:rPr dirty="0"/>
              <a:t> </a:t>
            </a:r>
            <a:r>
              <a:rPr lang="en-US" dirty="0" err="1"/>
              <a:t>wordt</a:t>
            </a:r>
            <a:r>
              <a:rPr lang="en-US" dirty="0"/>
              <a:t> </a:t>
            </a:r>
            <a:r>
              <a:rPr lang="en-US" dirty="0" err="1"/>
              <a:t>meegenomen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oeverlijn</a:t>
            </a:r>
            <a:r>
              <a:rPr lang="en-US" dirty="0"/>
              <a:t> in de </a:t>
            </a:r>
            <a:r>
              <a:rPr lang="en-US" dirty="0" err="1"/>
              <a:t>modellen</a:t>
            </a:r>
            <a:r>
              <a:rPr lang="en-US" dirty="0"/>
              <a:t>, wat het </a:t>
            </a:r>
            <a:r>
              <a:rPr lang="en-US" dirty="0" err="1"/>
              <a:t>voorspellende</a:t>
            </a:r>
            <a:r>
              <a:rPr lang="en-US" dirty="0"/>
              <a:t> model </a:t>
            </a:r>
            <a:r>
              <a:rPr lang="en-US" dirty="0" err="1"/>
              <a:t>verstoord</a:t>
            </a:r>
            <a:endParaRPr dirty="0"/>
          </a:p>
          <a:p>
            <a:pPr>
              <a:spcAft>
                <a:spcPts val="800"/>
              </a:spcAft>
              <a:defRPr sz="1500" b="0">
                <a:solidFill>
                  <a:srgbClr val="1F3A3D"/>
                </a:solidFill>
              </a:defRPr>
            </a:pPr>
            <a:r>
              <a:rPr dirty="0"/>
              <a:t>• </a:t>
            </a:r>
            <a:r>
              <a:rPr dirty="0" err="1"/>
              <a:t>Bewolking</a:t>
            </a:r>
            <a:r>
              <a:rPr dirty="0"/>
              <a:t> (20)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schaduw</a:t>
            </a:r>
            <a:r>
              <a:rPr dirty="0"/>
              <a:t> (8) </a:t>
            </a:r>
            <a:r>
              <a:rPr dirty="0" err="1"/>
              <a:t>zijn</a:t>
            </a:r>
            <a:r>
              <a:rPr dirty="0"/>
              <a:t> </a:t>
            </a:r>
            <a:r>
              <a:rPr dirty="0" err="1"/>
              <a:t>beeldkwaliteit</a:t>
            </a:r>
            <a:r>
              <a:rPr dirty="0"/>
              <a:t> — op </a:t>
            </a:r>
            <a:r>
              <a:rPr dirty="0" err="1"/>
              <a:t>te</a:t>
            </a:r>
            <a:r>
              <a:rPr dirty="0"/>
              <a:t> </a:t>
            </a:r>
            <a:r>
              <a:rPr dirty="0" err="1"/>
              <a:t>lossen</a:t>
            </a:r>
            <a:r>
              <a:rPr dirty="0"/>
              <a:t> </a:t>
            </a:r>
            <a:r>
              <a:rPr dirty="0" err="1"/>
              <a:t>bij</a:t>
            </a:r>
            <a:r>
              <a:rPr dirty="0"/>
              <a:t> de </a:t>
            </a:r>
            <a:r>
              <a:rPr dirty="0" err="1"/>
              <a:t>bron</a:t>
            </a:r>
            <a:endParaRPr dirty="0"/>
          </a:p>
          <a:p>
            <a:pPr>
              <a:spcAft>
                <a:spcPts val="800"/>
              </a:spcAft>
              <a:defRPr sz="1500" b="0">
                <a:solidFill>
                  <a:srgbClr val="1F3A3D"/>
                </a:solidFill>
              </a:defRPr>
            </a:pPr>
            <a:r>
              <a:rPr dirty="0"/>
              <a:t>• </a:t>
            </a:r>
            <a:r>
              <a:rPr dirty="0" err="1"/>
              <a:t>Nevengeulen</a:t>
            </a:r>
            <a:r>
              <a:rPr dirty="0"/>
              <a:t> (12)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afgemeerde</a:t>
            </a:r>
            <a:r>
              <a:rPr dirty="0"/>
              <a:t> schepen (5) </a:t>
            </a:r>
            <a:r>
              <a:rPr dirty="0" err="1"/>
              <a:t>zijn</a:t>
            </a:r>
            <a:r>
              <a:rPr dirty="0"/>
              <a:t> op </a:t>
            </a:r>
            <a:r>
              <a:rPr dirty="0" err="1"/>
              <a:t>te</a:t>
            </a:r>
            <a:r>
              <a:rPr dirty="0"/>
              <a:t> </a:t>
            </a:r>
            <a:r>
              <a:rPr dirty="0" err="1"/>
              <a:t>lossen</a:t>
            </a:r>
            <a:r>
              <a:rPr dirty="0"/>
              <a:t> met </a:t>
            </a:r>
            <a:r>
              <a:rPr dirty="0" err="1"/>
              <a:t>een</a:t>
            </a:r>
            <a:r>
              <a:rPr dirty="0"/>
              <a:t> masker</a:t>
            </a:r>
          </a:p>
          <a:p>
            <a:pPr>
              <a:spcAft>
                <a:spcPts val="800"/>
              </a:spcAft>
              <a:defRPr sz="1500" b="0">
                <a:solidFill>
                  <a:srgbClr val="1F3A3D"/>
                </a:solidFill>
              </a:defRPr>
            </a:pPr>
            <a:r>
              <a:rPr dirty="0"/>
              <a:t>• 85 van de 100 </a:t>
            </a:r>
            <a:r>
              <a:rPr dirty="0" err="1"/>
              <a:t>slechtste</a:t>
            </a:r>
            <a:r>
              <a:rPr dirty="0"/>
              <a:t> </a:t>
            </a:r>
            <a:r>
              <a:rPr dirty="0" err="1"/>
              <a:t>hebben</a:t>
            </a:r>
            <a:r>
              <a:rPr dirty="0"/>
              <a:t> SAM-</a:t>
            </a:r>
            <a:r>
              <a:rPr dirty="0" err="1"/>
              <a:t>voorkeur</a:t>
            </a:r>
            <a:r>
              <a:rPr dirty="0"/>
              <a:t>; </a:t>
            </a:r>
            <a:r>
              <a:rPr dirty="0" err="1"/>
              <a:t>allemaal</a:t>
            </a:r>
            <a:r>
              <a:rPr dirty="0"/>
              <a:t> </a:t>
            </a:r>
            <a:r>
              <a:rPr dirty="0" err="1"/>
              <a:t>gewonnen</a:t>
            </a:r>
            <a:r>
              <a:rPr dirty="0"/>
              <a:t> op de </a:t>
            </a:r>
            <a:r>
              <a:rPr dirty="0" err="1"/>
              <a:t>puntentelling</a:t>
            </a:r>
            <a:r>
              <a:rPr dirty="0"/>
              <a:t>, 44 met maar 1–2 </a:t>
            </a:r>
            <a:r>
              <a:rPr dirty="0" err="1"/>
              <a:t>punten</a:t>
            </a:r>
            <a:r>
              <a:rPr dirty="0"/>
              <a:t> </a:t>
            </a:r>
            <a:r>
              <a:rPr dirty="0" err="1"/>
              <a:t>verschil</a:t>
            </a:r>
            <a:endParaRPr dirty="0"/>
          </a:p>
          <a:p>
            <a:pPr>
              <a:spcAft>
                <a:spcPts val="800"/>
              </a:spcAft>
              <a:defRPr sz="1500" b="0">
                <a:solidFill>
                  <a:srgbClr val="1F3A3D"/>
                </a:solidFill>
              </a:defRPr>
            </a:pPr>
            <a:r>
              <a:rPr dirty="0"/>
              <a:t>• Twee </a:t>
            </a:r>
            <a:r>
              <a:rPr dirty="0" err="1"/>
              <a:t>zijn</a:t>
            </a:r>
            <a:r>
              <a:rPr dirty="0"/>
              <a:t> </a:t>
            </a:r>
            <a:r>
              <a:rPr lang="en-US" dirty="0" err="1"/>
              <a:t>daadwerkelijk</a:t>
            </a:r>
            <a:r>
              <a:rPr lang="en-US" dirty="0"/>
              <a:t> </a:t>
            </a:r>
            <a:r>
              <a:rPr dirty="0" err="1"/>
              <a:t>erosie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BB5A6"/>
                </a:solidFill>
              </a:defRPr>
            </a:pPr>
            <a:r>
              <a:t>De slechte lijn is meestal het nieuwste beeld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3A3D"/>
                </a:solidFill>
              </a:defRPr>
            </a:pPr>
            <a:r>
              <a:rPr dirty="0"/>
              <a:t>Rood = het </a:t>
            </a:r>
            <a:r>
              <a:rPr dirty="0" err="1"/>
              <a:t>stuk</a:t>
            </a:r>
            <a:r>
              <a:rPr dirty="0"/>
              <a:t> van </a:t>
            </a:r>
            <a:r>
              <a:rPr dirty="0" err="1"/>
              <a:t>een</a:t>
            </a:r>
            <a:r>
              <a:rPr dirty="0"/>
              <a:t> meting </a:t>
            </a:r>
            <a:r>
              <a:rPr dirty="0" err="1"/>
              <a:t>dat</a:t>
            </a:r>
            <a:r>
              <a:rPr dirty="0"/>
              <a:t> 8 m of </a:t>
            </a:r>
            <a:r>
              <a:rPr dirty="0" err="1"/>
              <a:t>meer</a:t>
            </a:r>
            <a:r>
              <a:rPr dirty="0"/>
              <a:t> </a:t>
            </a:r>
            <a:r>
              <a:rPr dirty="0" err="1"/>
              <a:t>afwijkt</a:t>
            </a:r>
            <a:r>
              <a:rPr dirty="0"/>
              <a:t> van de </a:t>
            </a:r>
            <a:r>
              <a:rPr dirty="0" err="1"/>
              <a:t>meerderheid</a:t>
            </a:r>
            <a:r>
              <a:rPr dirty="0"/>
              <a:t> van de </a:t>
            </a:r>
            <a:r>
              <a:rPr dirty="0" err="1"/>
              <a:t>metingen</a:t>
            </a:r>
            <a:r>
              <a:rPr dirty="0"/>
              <a:t> in die regio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778"/>
                </a:solidFill>
              </a:defRPr>
            </a:pPr>
            <a:r>
              <a:t>Oevererosietool · WOCU weekly 30-09-2026 · 3</a:t>
            </a:r>
          </a:p>
        </p:txBody>
      </p:sp>
      <p:pic>
        <p:nvPicPr>
          <p:cNvPr id="5" name="Picture 4" descr="cloud_panels_202609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7863840" cy="46180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554480"/>
            <a:ext cx="3566160" cy="285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F3A3D"/>
                </a:solidFill>
              </a:defRPr>
            </a:pPr>
            <a:r>
              <a:rPr dirty="0"/>
              <a:t>• </a:t>
            </a:r>
            <a:r>
              <a:rPr dirty="0" err="1"/>
              <a:t>Bewolking</a:t>
            </a:r>
            <a:r>
              <a:rPr dirty="0"/>
              <a:t>: in 14 van de 20 regio's is de </a:t>
            </a:r>
            <a:r>
              <a:rPr dirty="0" err="1"/>
              <a:t>uitschieter</a:t>
            </a:r>
            <a:r>
              <a:rPr dirty="0"/>
              <a:t> de </a:t>
            </a:r>
            <a:r>
              <a:rPr dirty="0" err="1"/>
              <a:t>laatste</a:t>
            </a:r>
            <a:r>
              <a:rPr dirty="0"/>
              <a:t> meting (</a:t>
            </a:r>
            <a:r>
              <a:rPr dirty="0" err="1"/>
              <a:t>maart</a:t>
            </a:r>
            <a:r>
              <a:rPr dirty="0"/>
              <a:t>–</a:t>
            </a:r>
            <a:r>
              <a:rPr dirty="0" err="1"/>
              <a:t>april</a:t>
            </a:r>
            <a:r>
              <a:rPr dirty="0"/>
              <a:t> 2026), 12–38 m </a:t>
            </a:r>
            <a:r>
              <a:rPr dirty="0" err="1"/>
              <a:t>ernaast</a:t>
            </a:r>
            <a:endParaRPr dirty="0"/>
          </a:p>
          <a:p>
            <a:pPr>
              <a:spcAft>
                <a:spcPts val="700"/>
              </a:spcAft>
              <a:defRPr sz="1300" b="0">
                <a:solidFill>
                  <a:srgbClr val="1F3A3D"/>
                </a:solidFill>
              </a:defRPr>
            </a:pPr>
            <a:r>
              <a:rPr dirty="0"/>
              <a:t>• </a:t>
            </a:r>
            <a:r>
              <a:rPr dirty="0" err="1"/>
              <a:t>Schaduw</a:t>
            </a:r>
            <a:r>
              <a:rPr dirty="0"/>
              <a:t>: steeds </a:t>
            </a:r>
            <a:r>
              <a:rPr dirty="0" err="1"/>
              <a:t>naar</a:t>
            </a:r>
            <a:r>
              <a:rPr dirty="0"/>
              <a:t> de </a:t>
            </a:r>
            <a:r>
              <a:rPr dirty="0" err="1"/>
              <a:t>rivier</a:t>
            </a:r>
            <a:r>
              <a:rPr dirty="0"/>
              <a:t> toe — </a:t>
            </a:r>
            <a:r>
              <a:rPr dirty="0" err="1"/>
              <a:t>een</a:t>
            </a:r>
            <a:r>
              <a:rPr dirty="0"/>
              <a:t> </a:t>
            </a:r>
            <a:r>
              <a:rPr dirty="0" err="1"/>
              <a:t>lijn</a:t>
            </a:r>
            <a:r>
              <a:rPr dirty="0"/>
              <a:t> in het water</a:t>
            </a:r>
          </a:p>
          <a:p>
            <a:pPr>
              <a:spcAft>
                <a:spcPts val="700"/>
              </a:spcAft>
              <a:defRPr sz="1300" b="0">
                <a:solidFill>
                  <a:srgbClr val="1F3A3D"/>
                </a:solidFill>
              </a:defRPr>
            </a:pPr>
            <a:r>
              <a:rPr dirty="0"/>
              <a:t>• De </a:t>
            </a:r>
            <a:r>
              <a:rPr dirty="0" err="1"/>
              <a:t>bestaande</a:t>
            </a:r>
            <a:r>
              <a:rPr dirty="0"/>
              <a:t> trend</a:t>
            </a:r>
            <a:r>
              <a:rPr lang="en-US" dirty="0"/>
              <a:t> </a:t>
            </a:r>
            <a:r>
              <a:rPr dirty="0"/>
              <a:t>regel mist ze: ze </a:t>
            </a:r>
            <a:r>
              <a:rPr dirty="0" err="1"/>
              <a:t>blijven</a:t>
            </a:r>
            <a:r>
              <a:rPr dirty="0"/>
              <a:t> </a:t>
            </a:r>
            <a:r>
              <a:rPr dirty="0" err="1"/>
              <a:t>onder</a:t>
            </a:r>
            <a:r>
              <a:rPr dirty="0"/>
              <a:t> de </a:t>
            </a:r>
            <a:r>
              <a:rPr dirty="0" err="1"/>
              <a:t>drempel</a:t>
            </a:r>
            <a:r>
              <a:rPr dirty="0"/>
              <a:t> van 15 m</a:t>
            </a:r>
          </a:p>
          <a:p>
            <a:pPr>
              <a:spcAft>
                <a:spcPts val="700"/>
              </a:spcAft>
              <a:defRPr sz="1300" b="0">
                <a:solidFill>
                  <a:srgbClr val="1F3A3D"/>
                </a:solidFill>
              </a:defRPr>
            </a:pPr>
            <a:r>
              <a:rPr dirty="0"/>
              <a:t>• Grens: </a:t>
            </a:r>
            <a:r>
              <a:rPr dirty="0" err="1"/>
              <a:t>echte</a:t>
            </a:r>
            <a:r>
              <a:rPr dirty="0"/>
              <a:t> </a:t>
            </a:r>
            <a:r>
              <a:rPr dirty="0" err="1"/>
              <a:t>erosie</a:t>
            </a:r>
            <a:r>
              <a:rPr dirty="0"/>
              <a:t> op het </a:t>
            </a:r>
            <a:r>
              <a:rPr dirty="0" err="1"/>
              <a:t>laatste</a:t>
            </a:r>
            <a:r>
              <a:rPr dirty="0"/>
              <a:t> </a:t>
            </a:r>
            <a:r>
              <a:rPr dirty="0" err="1"/>
              <a:t>beeld</a:t>
            </a:r>
            <a:r>
              <a:rPr dirty="0"/>
              <a:t> </a:t>
            </a:r>
            <a:r>
              <a:rPr dirty="0" err="1"/>
              <a:t>ziet</a:t>
            </a:r>
            <a:r>
              <a:rPr dirty="0"/>
              <a:t> er </a:t>
            </a:r>
            <a:r>
              <a:rPr dirty="0" err="1"/>
              <a:t>hetzelfde</a:t>
            </a:r>
            <a:r>
              <a:rPr dirty="0"/>
              <a:t> </a:t>
            </a:r>
            <a:r>
              <a:rPr dirty="0" err="1"/>
              <a:t>uit</a:t>
            </a:r>
            <a:r>
              <a:rPr dirty="0"/>
              <a:t>, tot het </a:t>
            </a:r>
            <a:r>
              <a:rPr dirty="0" err="1"/>
              <a:t>volgende</a:t>
            </a:r>
            <a:r>
              <a:rPr dirty="0"/>
              <a:t> </a:t>
            </a:r>
            <a:r>
              <a:rPr dirty="0" err="1"/>
              <a:t>beeld</a:t>
            </a:r>
            <a:r>
              <a:rPr dirty="0"/>
              <a:t> het </a:t>
            </a:r>
            <a:r>
              <a:rPr dirty="0" err="1"/>
              <a:t>bevestigt</a:t>
            </a:r>
            <a:endParaRPr dirty="0"/>
          </a:p>
          <a:p>
            <a:pPr>
              <a:spcAft>
                <a:spcPts val="700"/>
              </a:spcAft>
              <a:defRPr sz="1300" b="0">
                <a:solidFill>
                  <a:srgbClr val="1F3A3D"/>
                </a:solidFill>
              </a:defRPr>
            </a:pPr>
            <a:r>
              <a:rPr dirty="0"/>
              <a:t>• </a:t>
            </a:r>
            <a:r>
              <a:rPr dirty="0" err="1"/>
              <a:t>Vandaar</a:t>
            </a:r>
            <a:r>
              <a:rPr dirty="0"/>
              <a:t> de </a:t>
            </a:r>
            <a:r>
              <a:rPr dirty="0" err="1"/>
              <a:t>vraag</a:t>
            </a:r>
            <a:r>
              <a:rPr dirty="0"/>
              <a:t>: met het </a:t>
            </a:r>
            <a:r>
              <a:rPr dirty="0" err="1"/>
              <a:t>bewolkingspercentage</a:t>
            </a:r>
            <a:r>
              <a:rPr dirty="0"/>
              <a:t> per </a:t>
            </a:r>
            <a:r>
              <a:rPr dirty="0" err="1"/>
              <a:t>lijn</a:t>
            </a:r>
            <a:r>
              <a:rPr dirty="0"/>
              <a:t> </a:t>
            </a:r>
            <a:r>
              <a:rPr dirty="0" err="1"/>
              <a:t>filteren</a:t>
            </a:r>
            <a:r>
              <a:rPr dirty="0"/>
              <a:t> we ze </a:t>
            </a:r>
            <a:r>
              <a:rPr dirty="0" err="1"/>
              <a:t>bij</a:t>
            </a:r>
            <a:r>
              <a:rPr dirty="0"/>
              <a:t> de </a:t>
            </a:r>
            <a:r>
              <a:rPr dirty="0" err="1"/>
              <a:t>bron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BB5A6"/>
                </a:solidFill>
              </a:defRPr>
            </a:pPr>
            <a:r>
              <a:t>Eerste resultaten maskers: nevengeulen ja, schepen nog niet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3A3D"/>
                </a:solidFill>
              </a:defRPr>
            </a:pPr>
            <a:r>
              <a:t>Maskers toegepast op de opgeschoonde metingen van de huidige run · nog niet door het model gehaald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778"/>
                </a:solidFill>
              </a:defRPr>
            </a:pPr>
            <a:r>
              <a:t>Oevererosietool · WOCU weekly 30-09-2026 · 4</a:t>
            </a:r>
          </a:p>
        </p:txBody>
      </p:sp>
      <p:pic>
        <p:nvPicPr>
          <p:cNvPr id="5" name="Picture 4" descr="side_channel_mask_check_nl_202609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6522720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66560" y="146304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F3A3D"/>
                </a:solidFill>
              </a:defRPr>
            </a:pPr>
            <a:r>
              <a:t>Nevengeulen — RWS-legger nevengeulen, +10 m</a:t>
            </a:r>
          </a:p>
          <a:p>
            <a:pPr>
              <a:spcAft>
                <a:spcPts val="600"/>
              </a:spcAft>
              <a:defRPr sz="1300" b="0">
                <a:solidFill>
                  <a:srgbClr val="1F3A3D"/>
                </a:solidFill>
              </a:defRPr>
            </a:pPr>
            <a:r>
              <a:t>• Raakt 5 van Etienne's 12 nevengeulregio's en verwijdert daar 25–83 % van de punten</a:t>
            </a:r>
          </a:p>
          <a:p>
            <a:pPr>
              <a:spcAft>
                <a:spcPts val="600"/>
              </a:spcAft>
              <a:defRPr sz="1300" b="0">
                <a:solidFill>
                  <a:srgbClr val="1F3A3D"/>
                </a:solidFill>
              </a:defRPr>
            </a:pPr>
            <a:r>
              <a:t>• Raakt ook 663 andere regio's; bij een steekproef lijken de meeste dezelfde fout (de lijn ligt langs de nevengeul, ver van de rivieroever) — Etienne een steekproef laten bekijken</a:t>
            </a:r>
          </a:p>
          <a:p>
            <a:pPr>
              <a:spcAft>
                <a:spcPts val="600"/>
              </a:spcAft>
              <a:defRPr sz="1300" b="0">
                <a:solidFill>
                  <a:srgbClr val="1F3A3D"/>
                </a:solidFill>
              </a:defRPr>
            </a:pPr>
            <a:r>
              <a:t>• De andere 7: strangen en plassen die niet in de legger staan</a:t>
            </a:r>
          </a:p>
          <a:p>
            <a:pPr>
              <a:spcAft>
                <a:spcPts val="600"/>
              </a:spcAft>
              <a:defRPr sz="1300" b="1">
                <a:solidFill>
                  <a:srgbClr val="1F3A3D"/>
                </a:solidFill>
              </a:defRPr>
            </a:pPr>
            <a:r>
              <a:t>Schepen — niet bij sluizen, maar afgemeerd</a:t>
            </a:r>
          </a:p>
          <a:p>
            <a:pPr>
              <a:spcAft>
                <a:spcPts val="600"/>
              </a:spcAft>
              <a:defRPr sz="1300" b="0">
                <a:solidFill>
                  <a:srgbClr val="1F3A3D"/>
                </a:solidFill>
              </a:defRPr>
            </a:pPr>
            <a:r>
              <a:t>• 4 van de 5 scheepsregio's liggen 22–125 m van een aanlegsteiger; sluizen liggen 225 m tot 4 km weg</a:t>
            </a:r>
          </a:p>
          <a:p>
            <a:pPr>
              <a:spcAft>
                <a:spcPts val="600"/>
              </a:spcAft>
              <a:defRPr sz="1300" b="0">
                <a:solidFill>
                  <a:srgbClr val="1F3A3D"/>
                </a:solidFill>
              </a:defRPr>
            </a:pPr>
            <a:r>
              <a:t>• Een buffer van 100 m rond steigers raakt er 3 van de 5, maar ook 569 andere regio's — te grof; vraagt een slimmere regel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57607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6B7778"/>
                </a:solidFill>
              </a:defRPr>
            </a:pPr>
            <a:r>
              <a:t>Links: 3 van Etienne's nevengeulregio's (DOEL) en 9 willekeurige andere regio's waar het masker ≥ 50 % raakt; rood = verwijderd.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3344313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BB5A6"/>
                </a:solidFill>
              </a:defRPr>
            </a:pPr>
            <a:r>
              <a:rPr lang="en-US" dirty="0"/>
              <a:t>Wat er </a:t>
            </a:r>
            <a:r>
              <a:rPr lang="en-US" dirty="0" err="1"/>
              <a:t>nog</a:t>
            </a:r>
            <a:r>
              <a:rPr lang="en-US" dirty="0"/>
              <a:t> </a:t>
            </a:r>
            <a:r>
              <a:rPr lang="en-US" dirty="0" err="1"/>
              <a:t>nodig</a:t>
            </a:r>
            <a:r>
              <a:rPr lang="en-US" dirty="0"/>
              <a:t> is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778"/>
                </a:solidFill>
              </a:defRPr>
            </a:pPr>
            <a:r>
              <a:t>Oevererosietool · WOCU weekly 30-09-2026 · 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6540352"/>
              </p:ext>
            </p:extLst>
          </p:nvPr>
        </p:nvGraphicFramePr>
        <p:xfrm>
          <a:off x="548640" y="1554480"/>
          <a:ext cx="11064240" cy="268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3A3D"/>
                          </a:solidFill>
                        </a:defRPr>
                      </a:pPr>
                      <a:r>
                        <a:t>wie</a:t>
                      </a:r>
                    </a:p>
                  </a:txBody>
                  <a:tcPr>
                    <a:solidFill>
                      <a:srgbClr val="E6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3A3D"/>
                          </a:solidFill>
                        </a:defRPr>
                      </a:pPr>
                      <a:r>
                        <a:t>wat</a:t>
                      </a:r>
                    </a:p>
                  </a:txBody>
                  <a:tcPr>
                    <a:solidFill>
                      <a:srgbClr val="E6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3A3D"/>
                          </a:solidFill>
                        </a:defRPr>
                      </a:pPr>
                      <a:r>
                        <a:t>waarom</a:t>
                      </a:r>
                    </a:p>
                  </a:txBody>
                  <a:tcPr>
                    <a:solidFill>
                      <a:srgbClr val="E6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3A3D"/>
                          </a:solidFill>
                        </a:defRPr>
                      </a:pPr>
                      <a:r>
                        <a:t>Luke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3A3D"/>
                          </a:solidFill>
                        </a:defRPr>
                      </a:pPr>
                      <a:r>
                        <a:t>De lijnen die het hybride model ingaan ná jouw opschoning — beide modellen per regio, vóór de puntentelling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3A3D"/>
                          </a:solidFill>
                        </a:defRPr>
                      </a:pPr>
                      <a:r>
                        <a:t>De voorkeur valideren; ~2.200 extra modelleerbare regio's. De ruwe invoer hebben we, deze set niet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3A3D"/>
                          </a:solidFill>
                        </a:defRPr>
                      </a:pPr>
                      <a:r>
                        <a:t>Luke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3A3D"/>
                          </a:solidFill>
                        </a:defRPr>
                      </a:pPr>
                      <a:r>
                        <a:rPr dirty="0" err="1"/>
                        <a:t>Nieuwe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hoogtedata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Rijntakken</a:t>
                      </a:r>
                      <a:r>
                        <a:rPr dirty="0"/>
                        <a:t>: </a:t>
                      </a:r>
                      <a:r>
                        <a:rPr dirty="0" err="1"/>
                        <a:t>voor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ons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beschikbaar</a:t>
                      </a:r>
                      <a:r>
                        <a:rPr dirty="0"/>
                        <a:t>? </a:t>
                      </a:r>
                      <a:r>
                        <a:rPr dirty="0" err="1"/>
                        <a:t>tijd</a:t>
                      </a:r>
                      <a:r>
                        <a:rPr dirty="0"/>
                        <a:t> om </a:t>
                      </a:r>
                      <a:r>
                        <a:rPr dirty="0" err="1"/>
                        <a:t>te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verwerken</a:t>
                      </a:r>
                      <a:r>
                        <a:rPr dirty="0"/>
                        <a:t>? </a:t>
                      </a:r>
                      <a:r>
                        <a:rPr dirty="0" err="1"/>
                        <a:t>onderdeel</a:t>
                      </a:r>
                      <a:r>
                        <a:rPr dirty="0"/>
                        <a:t> van de demo over 5 </a:t>
                      </a:r>
                      <a:r>
                        <a:rPr dirty="0" err="1"/>
                        <a:t>weken</a:t>
                      </a:r>
                      <a:r>
                        <a:rPr dirty="0"/>
                        <a:t>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3A3D"/>
                          </a:solidFill>
                        </a:defRPr>
                      </a:pPr>
                      <a:r>
                        <a:rPr lang="en-US" dirty="0" err="1"/>
                        <a:t>R</a:t>
                      </a:r>
                      <a:r>
                        <a:rPr dirty="0" err="1"/>
                        <a:t>ecente</a:t>
                      </a:r>
                      <a:r>
                        <a:rPr dirty="0"/>
                        <a:t> </a:t>
                      </a:r>
                      <a:r>
                        <a:rPr lang="en-US" dirty="0" err="1"/>
                        <a:t>hoogte</a:t>
                      </a:r>
                      <a:r>
                        <a:rPr dirty="0" err="1"/>
                        <a:t>meting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voor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elke</a:t>
                      </a:r>
                      <a:r>
                        <a:rPr dirty="0"/>
                        <a:t> regio in de </a:t>
                      </a:r>
                      <a:r>
                        <a:rPr dirty="0" err="1"/>
                        <a:t>Rijntakken</a:t>
                      </a:r>
                      <a:r>
                        <a:rPr dirty="0"/>
                        <a:t>, welk model </a:t>
                      </a:r>
                      <a:r>
                        <a:rPr dirty="0" err="1"/>
                        <a:t>ook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wint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3A3D"/>
                          </a:solidFill>
                        </a:defRPr>
                      </a:pPr>
                      <a:r>
                        <a:t>Etienne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3A3D"/>
                          </a:solidFill>
                        </a:defRPr>
                      </a:pPr>
                      <a:r>
                        <a:rPr dirty="0" err="1"/>
                        <a:t>Bewolkingspercentage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als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attribuut</a:t>
                      </a:r>
                      <a:r>
                        <a:rPr dirty="0"/>
                        <a:t> op </a:t>
                      </a:r>
                      <a:r>
                        <a:rPr dirty="0" err="1"/>
                        <a:t>elke</a:t>
                      </a:r>
                      <a:r>
                        <a:rPr dirty="0"/>
                        <a:t> SAM-</a:t>
                      </a:r>
                      <a:r>
                        <a:rPr dirty="0" err="1"/>
                        <a:t>lijn</a:t>
                      </a:r>
                      <a:r>
                        <a:rPr dirty="0"/>
                        <a:t> (</a:t>
                      </a:r>
                      <a:r>
                        <a:rPr dirty="0" err="1"/>
                        <a:t>anders</a:t>
                      </a:r>
                      <a:r>
                        <a:rPr dirty="0"/>
                        <a:t>: exports </a:t>
                      </a:r>
                      <a:r>
                        <a:rPr dirty="0" err="1"/>
                        <a:t>bij</a:t>
                      </a:r>
                      <a:r>
                        <a:rPr dirty="0"/>
                        <a:t> 0 % </a:t>
                      </a:r>
                      <a:r>
                        <a:rPr dirty="0" err="1"/>
                        <a:t>en</a:t>
                      </a:r>
                      <a:r>
                        <a:rPr dirty="0"/>
                        <a:t> 5 %)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3A3D"/>
                          </a:solidFill>
                        </a:defRPr>
                      </a:pPr>
                      <a:r>
                        <a:rPr dirty="0"/>
                        <a:t>De </a:t>
                      </a:r>
                      <a:r>
                        <a:rPr dirty="0" err="1"/>
                        <a:t>grootste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enkele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verbetering</a:t>
                      </a:r>
                      <a:r>
                        <a:rPr dirty="0"/>
                        <a:t>: 20 van de 56 </a:t>
                      </a:r>
                      <a:r>
                        <a:rPr dirty="0" err="1"/>
                        <a:t>beoordeelde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fouten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zijn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bewolking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3A3D"/>
                          </a:solidFill>
                        </a:defRPr>
                      </a:pPr>
                      <a:r>
                        <a:t>Etienne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3A3D"/>
                          </a:solidFill>
                        </a:defRPr>
                      </a:pPr>
                      <a:r>
                        <a:rPr dirty="0"/>
                        <a:t>Blik op de maskers: </a:t>
                      </a:r>
                      <a:r>
                        <a:rPr dirty="0" err="1"/>
                        <a:t>juiste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laag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voor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nevengeulen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juiste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breedte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rond</a:t>
                      </a:r>
                      <a:r>
                        <a:rPr dirty="0"/>
                        <a:t> </a:t>
                      </a:r>
                      <a:r>
                        <a:rPr lang="en-US" dirty="0" err="1"/>
                        <a:t>centerlijn</a:t>
                      </a:r>
                      <a:r>
                        <a:rPr lang="en-US" dirty="0"/>
                        <a:t>/</a:t>
                      </a:r>
                      <a:r>
                        <a:rPr lang="en-US" dirty="0" err="1"/>
                        <a:t>sluizen</a:t>
                      </a:r>
                      <a:r>
                        <a:rPr dirty="0"/>
                        <a:t>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3A3D"/>
                          </a:solidFill>
                        </a:defRPr>
                      </a:pPr>
                      <a:r>
                        <a:rPr lang="en-US" dirty="0" err="1"/>
                        <a:t>Zorgen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voor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dat</a:t>
                      </a:r>
                      <a:r>
                        <a:rPr lang="en-US" dirty="0"/>
                        <a:t> we </a:t>
                      </a:r>
                      <a:r>
                        <a:rPr lang="en-US" dirty="0" err="1"/>
                        <a:t>geen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juist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gemeten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oeverlijnen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wegfilteren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3A3D"/>
                          </a:solidFill>
                        </a:defRPr>
                      </a:pPr>
                      <a:r>
                        <a:rPr lang="en-US" dirty="0"/>
                        <a:t>Jeroen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3A3D"/>
                          </a:solidFill>
                        </a:defRPr>
                      </a:pPr>
                      <a:r>
                        <a:t>Toegang tot de Claap-opnames na 2 september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3A3D"/>
                          </a:solidFill>
                        </a:defRPr>
                      </a:pPr>
                      <a:r>
                        <a:rPr dirty="0" err="1"/>
                        <a:t>Notities</a:t>
                      </a:r>
                      <a:r>
                        <a:rPr dirty="0"/>
                        <a:t> om mee </a:t>
                      </a:r>
                      <a:r>
                        <a:rPr dirty="0" err="1"/>
                        <a:t>verder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te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werken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5821722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BB5A6"/>
                </a:solidFill>
              </a:defRPr>
            </a:pPr>
            <a:r>
              <a:rPr lang="en-US" dirty="0" err="1"/>
              <a:t>Samenvatting</a:t>
            </a:r>
            <a:r>
              <a:rPr lang="en-US" dirty="0"/>
              <a:t> + wat </a:t>
            </a:r>
            <a:r>
              <a:rPr lang="en-US" dirty="0" err="1"/>
              <a:t>verdere</a:t>
            </a:r>
            <a:r>
              <a:rPr lang="en-US" dirty="0"/>
              <a:t> </a:t>
            </a:r>
            <a:r>
              <a:rPr lang="en-US" dirty="0" err="1"/>
              <a:t>vragen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778"/>
                </a:solidFill>
              </a:defRPr>
            </a:pPr>
            <a:r>
              <a:t>Oevererosietool · WOCU weekly 30-09-2026 · 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51419"/>
            <a:ext cx="3566160" cy="548640"/>
          </a:xfrm>
          <a:prstGeom prst="rect">
            <a:avLst/>
          </a:prstGeom>
          <a:solidFill>
            <a:srgbClr val="E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Laten </a:t>
            </a:r>
            <a:r>
              <a:rPr dirty="0" err="1"/>
              <a:t>zien</a:t>
            </a:r>
            <a:r>
              <a:rPr lang="en-US" dirty="0"/>
              <a:t> 14 oktober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548640" y="2082939"/>
            <a:ext cx="356616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F3A3D"/>
                </a:solidFill>
              </a:defRPr>
            </a:pPr>
            <a:r>
              <a:rPr dirty="0"/>
              <a:t>• Skill in VVR-regio's — </a:t>
            </a:r>
            <a:r>
              <a:rPr dirty="0" err="1"/>
              <a:t>waar</a:t>
            </a:r>
            <a:r>
              <a:rPr dirty="0"/>
              <a:t> de tool </a:t>
            </a:r>
            <a:r>
              <a:rPr dirty="0" err="1"/>
              <a:t>ertoe</a:t>
            </a:r>
            <a:r>
              <a:rPr dirty="0"/>
              <a:t> </a:t>
            </a:r>
            <a:r>
              <a:rPr dirty="0" err="1"/>
              <a:t>doet</a:t>
            </a:r>
            <a:endParaRPr dirty="0"/>
          </a:p>
          <a:p>
            <a:pPr>
              <a:spcAft>
                <a:spcPts val="600"/>
              </a:spcAft>
              <a:defRPr sz="1500" b="0">
                <a:solidFill>
                  <a:srgbClr val="1F3A3D"/>
                </a:solidFill>
              </a:defRPr>
            </a:pPr>
            <a:r>
              <a:rPr dirty="0"/>
              <a:t>• Fout op </a:t>
            </a:r>
            <a:r>
              <a:rPr dirty="0" err="1"/>
              <a:t>hoogtemodel</a:t>
            </a:r>
            <a:r>
              <a:rPr dirty="0"/>
              <a:t>- </a:t>
            </a:r>
            <a:r>
              <a:rPr dirty="0" err="1"/>
              <a:t>tegenover</a:t>
            </a:r>
            <a:r>
              <a:rPr dirty="0"/>
              <a:t> SAM-</a:t>
            </a:r>
            <a:r>
              <a:rPr dirty="0" err="1"/>
              <a:t>lijnen</a:t>
            </a:r>
            <a:r>
              <a:rPr lang="en-US" dirty="0"/>
              <a:t> (</a:t>
            </a:r>
            <a:r>
              <a:rPr lang="en-US" dirty="0" err="1"/>
              <a:t>interessant</a:t>
            </a:r>
            <a:r>
              <a:rPr lang="en-US" dirty="0"/>
              <a:t> </a:t>
            </a:r>
            <a:r>
              <a:rPr lang="en-US" dirty="0" err="1"/>
              <a:t>voor</a:t>
            </a:r>
            <a:r>
              <a:rPr lang="en-US" dirty="0"/>
              <a:t> </a:t>
            </a:r>
            <a:r>
              <a:rPr lang="en-US" dirty="0" err="1"/>
              <a:t>ons</a:t>
            </a:r>
            <a:r>
              <a:rPr lang="en-US" dirty="0"/>
              <a:t>, maar </a:t>
            </a:r>
            <a:r>
              <a:rPr lang="en-US" dirty="0" err="1"/>
              <a:t>ook</a:t>
            </a:r>
            <a:r>
              <a:rPr lang="en-US" dirty="0"/>
              <a:t> </a:t>
            </a:r>
            <a:r>
              <a:rPr lang="en-US" dirty="0" err="1"/>
              <a:t>belangrijk</a:t>
            </a:r>
            <a:r>
              <a:rPr lang="en-US" dirty="0"/>
              <a:t> </a:t>
            </a:r>
            <a:r>
              <a:rPr lang="en-US" dirty="0" err="1"/>
              <a:t>voor</a:t>
            </a:r>
            <a:r>
              <a:rPr lang="en-US" dirty="0"/>
              <a:t> </a:t>
            </a:r>
            <a:r>
              <a:rPr lang="en-US" dirty="0" err="1"/>
              <a:t>publiek</a:t>
            </a:r>
            <a:r>
              <a:rPr lang="en-US" dirty="0"/>
              <a:t>?)</a:t>
            </a:r>
          </a:p>
          <a:p>
            <a:pPr>
              <a:spcAft>
                <a:spcPts val="600"/>
              </a:spcAft>
              <a:defRPr sz="1500" b="0">
                <a:solidFill>
                  <a:srgbClr val="1F3A3D"/>
                </a:solidFill>
              </a:defRPr>
            </a:pPr>
            <a:r>
              <a:rPr lang="en-US" dirty="0"/>
              <a:t>• </a:t>
            </a:r>
            <a:r>
              <a:rPr lang="en-US" dirty="0" err="1"/>
              <a:t>Voorspelde</a:t>
            </a:r>
            <a:r>
              <a:rPr lang="en-US" dirty="0"/>
              <a:t> </a:t>
            </a:r>
            <a:r>
              <a:rPr lang="en-US" dirty="0" err="1"/>
              <a:t>oeverlijnen</a:t>
            </a:r>
            <a:r>
              <a:rPr lang="en-US" dirty="0"/>
              <a:t> over de </a:t>
            </a:r>
            <a:r>
              <a:rPr lang="en-US" dirty="0" err="1"/>
              <a:t>komende</a:t>
            </a:r>
            <a:r>
              <a:rPr lang="en-US" dirty="0"/>
              <a:t> </a:t>
            </a:r>
            <a:r>
              <a:rPr lang="en-US" dirty="0" err="1"/>
              <a:t>jaren</a:t>
            </a:r>
            <a:r>
              <a:rPr lang="en-US" dirty="0"/>
              <a:t> + </a:t>
            </a:r>
            <a:r>
              <a:rPr lang="en-US" dirty="0" err="1"/>
              <a:t>kleuring</a:t>
            </a:r>
            <a:br>
              <a:rPr lang="en-US" dirty="0"/>
            </a:br>
            <a:br>
              <a:rPr lang="en-US" dirty="0"/>
            </a:br>
            <a:r>
              <a:rPr lang="en-US" dirty="0"/>
              <a:t>• Wat </a:t>
            </a:r>
            <a:r>
              <a:rPr lang="en-US" dirty="0" err="1"/>
              <a:t>voorbeelden</a:t>
            </a:r>
            <a:r>
              <a:rPr lang="en-US" dirty="0"/>
              <a:t> van </a:t>
            </a:r>
            <a:r>
              <a:rPr lang="en-US" dirty="0" err="1"/>
              <a:t>oevererosie</a:t>
            </a:r>
            <a:r>
              <a:rPr lang="en-US" dirty="0"/>
              <a:t> in VVR </a:t>
            </a:r>
            <a:r>
              <a:rPr lang="en-US" dirty="0" err="1"/>
              <a:t>regionen</a:t>
            </a:r>
            <a:endParaRPr lang="en-US" dirty="0"/>
          </a:p>
          <a:p>
            <a:pPr>
              <a:spcAft>
                <a:spcPts val="600"/>
              </a:spcAft>
              <a:defRPr sz="1500" b="0">
                <a:solidFill>
                  <a:srgbClr val="1F3A3D"/>
                </a:solidFill>
              </a:defRPr>
            </a:pPr>
            <a:endParaRPr lang="en-US" dirty="0"/>
          </a:p>
          <a:p>
            <a:pPr>
              <a:spcAft>
                <a:spcPts val="600"/>
              </a:spcAft>
              <a:defRPr sz="1500" b="0">
                <a:solidFill>
                  <a:srgbClr val="1F3A3D"/>
                </a:solidFill>
              </a:defRPr>
            </a:pPr>
            <a:r>
              <a:rPr lang="en-US" dirty="0"/>
              <a:t>• </a:t>
            </a:r>
            <a:r>
              <a:rPr lang="en-US" dirty="0" err="1"/>
              <a:t>PowerBI</a:t>
            </a:r>
            <a:r>
              <a:rPr lang="en-US" dirty="0"/>
              <a:t> mockup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351419"/>
            <a:ext cx="3566160" cy="548640"/>
          </a:xfrm>
          <a:prstGeom prst="rect">
            <a:avLst/>
          </a:prstGeom>
          <a:solidFill>
            <a:srgbClr val="2B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Als het lukt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082939"/>
            <a:ext cx="3566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F3A3D"/>
                </a:solidFill>
              </a:defRPr>
            </a:pPr>
            <a:r>
              <a:t>• Effect van de maskers op de skill</a:t>
            </a:r>
          </a:p>
          <a:p>
            <a:pPr>
              <a:spcAft>
                <a:spcPts val="600"/>
              </a:spcAft>
              <a:defRPr sz="1500" b="0">
                <a:solidFill>
                  <a:srgbClr val="1F3A3D"/>
                </a:solidFill>
              </a:defRPr>
            </a:pPr>
            <a:r>
              <a:t>• Bewolkingsfilter, als het attribuut er is</a:t>
            </a:r>
          </a:p>
          <a:p>
            <a:pPr>
              <a:spcAft>
                <a:spcPts val="600"/>
              </a:spcAft>
              <a:defRPr sz="1500" b="0">
                <a:solidFill>
                  <a:srgbClr val="1F3A3D"/>
                </a:solidFill>
              </a:defRPr>
            </a:pPr>
            <a:r>
              <a:t>• Rijntakken met de nieuwe hoogtedata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351419"/>
            <a:ext cx="3566160" cy="548640"/>
          </a:xfrm>
          <a:prstGeom prst="rect">
            <a:avLst/>
          </a:prstGeom>
          <a:solidFill>
            <a:srgbClr val="2B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Vandaag afspreken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082939"/>
            <a:ext cx="356616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F3A3D"/>
                </a:solidFill>
              </a:defRPr>
            </a:pPr>
            <a:r>
              <a:rPr dirty="0"/>
              <a:t>• Wie </a:t>
            </a:r>
            <a:r>
              <a:rPr dirty="0" err="1"/>
              <a:t>komt</a:t>
            </a:r>
            <a:r>
              <a:rPr dirty="0"/>
              <a:t> er op 14</a:t>
            </a:r>
            <a:r>
              <a:rPr lang="en-US" dirty="0"/>
              <a:t>/15</a:t>
            </a:r>
            <a:r>
              <a:rPr dirty="0"/>
              <a:t> oktober, </a:t>
            </a:r>
            <a:r>
              <a:rPr dirty="0" err="1"/>
              <a:t>en</a:t>
            </a:r>
            <a:r>
              <a:rPr dirty="0"/>
              <a:t> wat </a:t>
            </a:r>
            <a:r>
              <a:rPr dirty="0" err="1"/>
              <a:t>verwachten</a:t>
            </a:r>
            <a:r>
              <a:rPr dirty="0"/>
              <a:t> ze</a:t>
            </a:r>
            <a:r>
              <a:rPr lang="en-US" dirty="0"/>
              <a:t>?</a:t>
            </a:r>
            <a:endParaRPr dirty="0"/>
          </a:p>
          <a:p>
            <a:pPr>
              <a:spcAft>
                <a:spcPts val="600"/>
              </a:spcAft>
              <a:defRPr sz="1500" b="0">
                <a:solidFill>
                  <a:srgbClr val="1F3A3D"/>
                </a:solidFill>
              </a:defRPr>
            </a:pPr>
            <a:r>
              <a:rPr dirty="0"/>
              <a:t>• </a:t>
            </a:r>
            <a:r>
              <a:rPr dirty="0" err="1"/>
              <a:t>Wanneer</a:t>
            </a:r>
            <a:r>
              <a:rPr dirty="0"/>
              <a:t> rapport Fase 2 </a:t>
            </a:r>
            <a:r>
              <a:rPr lang="en-US" dirty="0"/>
              <a:t>feedback </a:t>
            </a:r>
            <a:r>
              <a:rPr lang="en-US" dirty="0" err="1"/>
              <a:t>nodig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2427EA6-56C2-CB57-783E-F6B740DD5E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0"/>
            <a:ext cx="10287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9366A81-2251-27B7-349B-7D339CCE7689}"/>
              </a:ext>
            </a:extLst>
          </p:cNvPr>
          <p:cNvSpPr txBox="1"/>
          <p:nvPr/>
        </p:nvSpPr>
        <p:spPr>
          <a:xfrm>
            <a:off x="60512" y="73959"/>
            <a:ext cx="17755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Mockup </a:t>
            </a:r>
            <a:r>
              <a:rPr lang="en-US" dirty="0" err="1"/>
              <a:t>PowerBI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710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863</Words>
  <Application>Microsoft Macintosh PowerPoint</Application>
  <PresentationFormat>Widescreen</PresentationFormat>
  <Paragraphs>76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Alexander Bakker</cp:lastModifiedBy>
  <cp:revision>5</cp:revision>
  <dcterms:created xsi:type="dcterms:W3CDTF">2013-01-27T09:14:16Z</dcterms:created>
  <dcterms:modified xsi:type="dcterms:W3CDTF">2026-09-30T16:02:22Z</dcterms:modified>
  <cp:category/>
</cp:coreProperties>
</file>