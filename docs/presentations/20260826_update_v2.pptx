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val: het maartcijfer zag er goed uit omdat de meetlat mild was (3–4 jaar) én omdat één getal per vlak veel verbergt. paars = VVR, zwart = hartlijn, groen = gemeten oever per jaar.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Dit is de hele presentatie in één plaatje.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Oevererosietool — van lijn naar oever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Voortgang voorspellend model · wat we vonden · wat we nodig hebben</a:t>
            </a:r>
          </a:p>
          <a:p>
            <a:pPr>
              <a:spcBef>
                <a:spcPts val="1200"/>
              </a:spcBef>
              <a:defRPr sz="1600">
                <a:solidFill>
                  <a:srgbClr val="FFFFFF"/>
                </a:solidFill>
              </a:defRPr>
            </a:pPr>
            <a:r>
              <a:t>Update 26 augustus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Waar we in maart stonden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scopevlak — en een oever is geen rechte lijn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2</a:t>
            </a:r>
          </a:p>
        </p:txBody>
      </p:sp>
      <p:pic>
        <p:nvPicPr>
          <p:cNvPr id="5" name="Picture 4" descr="maas3_l_17410_174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4511761" cy="4206240"/>
          </a:xfrm>
          <a:prstGeom prst="rect">
            <a:avLst/>
          </a:prstGeom>
        </p:spPr>
      </p:pic>
      <p:pic>
        <p:nvPicPr>
          <p:cNvPr id="6" name="Picture 5" descr="nederrijn_r_4470_44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463040"/>
            <a:ext cx="4527056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hoogtemodel (maart): de ene afstand (gestippeld) ligt 38 m naast de gemeten oever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56692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SAM (nu): de oever kronkelt om een kribvak — één getal zegt hier nog minder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155448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1F3A3D"/>
                </a:solidFill>
              </a:defRPr>
            </a:pPr>
            <a:r>
              <a:t>• Maart: alleen hoogtemodel, 3–4 jaar tussen opnames</a:t>
            </a:r>
          </a:p>
          <a:p>
            <a:pPr>
              <a:spcAft>
                <a:spcPts val="500"/>
              </a:spcAft>
              <a:defRPr sz="1300" b="0">
                <a:solidFill>
                  <a:srgbClr val="1F3A3D"/>
                </a:solidFill>
              </a:defRPr>
            </a:pPr>
            <a:r>
              <a:t>• Per vlak één afstand tot de hartlijn per opname (gestippeld)</a:t>
            </a:r>
          </a:p>
          <a:p>
            <a:pPr>
              <a:spcAft>
                <a:spcPts val="500"/>
              </a:spcAft>
              <a:defRPr sz="1300" b="0">
                <a:solidFill>
                  <a:srgbClr val="1F3A3D"/>
                </a:solidFill>
              </a:defRPr>
            </a:pPr>
            <a:r>
              <a:t>• Fout 0,94 m/jr — maar 'neem het gemiddelde' deed het beter (0,78)</a:t>
            </a:r>
          </a:p>
          <a:p>
            <a:pPr>
              <a:spcAft>
                <a:spcPts val="500"/>
              </a:spcAft>
              <a:defRPr sz="1300" b="0">
                <a:solidFill>
                  <a:srgbClr val="1F3A3D"/>
                </a:solidFill>
              </a:defRPr>
            </a:pPr>
            <a:r>
              <a:t>• Risicogevallen: 4,6 m/jr · 7.444 vlakken</a:t>
            </a:r>
          </a:p>
          <a:p>
            <a:pPr>
              <a:spcAft>
                <a:spcPts val="500"/>
              </a:spcAft>
              <a:defRPr sz="1300" b="0">
                <a:solidFill>
                  <a:srgbClr val="1F3A3D"/>
                </a:solidFill>
              </a:defRPr>
            </a:pPr>
            <a:r>
              <a:t>• Met de SAM-lijnen wordt de oever écht een lijn — en het ene getal past nog slechter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er sindsdien binnenkwam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Hybride levering: SAM + hoogtemodel · tot 11 meetmomenten · 1 jaar tussen t-punten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3</a:t>
            </a:r>
          </a:p>
        </p:txBody>
      </p:sp>
      <p:pic>
        <p:nvPicPr>
          <p:cNvPr id="5" name="Picture 4" descr="aug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675120" cy="3753902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06640" y="1554480"/>
          <a:ext cx="44805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109728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3A3D"/>
                          </a:solidFill>
                        </a:defRPr>
                      </a:pP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F3A3D"/>
                          </a:solidFill>
                        </a:defRPr>
                      </a:pPr>
                      <a:r>
                        <a:t>maart 2026</a:t>
                      </a:r>
                    </a:p>
                    <a:p>
                      <a:r>
                        <a:t>alleen hoogtemodel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F3A3D"/>
                          </a:solidFill>
                        </a:defRPr>
                      </a:pPr>
                      <a:r>
                        <a:t>augustus 2026</a:t>
                      </a:r>
                    </a:p>
                    <a:p>
                      <a:r>
                        <a:t>hybride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3A3D"/>
                          </a:solidFill>
                        </a:defRPr>
                      </a:pPr>
                      <a:r>
                        <a:t>Baseline (naïef gemiddelde) — fout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3A3D"/>
                          </a:solidFill>
                        </a:defRPr>
                      </a:pPr>
                      <a:r>
                        <a:t>0,78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3A3D"/>
                          </a:solidFill>
                        </a:defRPr>
                      </a:pPr>
                      <a:r>
                        <a:t>4,79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3A3D"/>
                          </a:solidFill>
                        </a:defRPr>
                      </a:pPr>
                      <a:r>
                        <a:t>0,94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3A3D"/>
                          </a:solidFill>
                        </a:defRPr>
                      </a:pPr>
                      <a:r>
                        <a:t>4,12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3A3D"/>
                          </a:solidFill>
                        </a:defRPr>
                      </a:pPr>
                      <a:r>
                        <a:t>LightGBM t.o.v.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3A3D"/>
                          </a:solidFill>
                        </a:defRPr>
                      </a:pPr>
                      <a:r>
                        <a:t>20 % slechter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3A3D"/>
                          </a:solidFill>
                        </a:defRPr>
                      </a:pPr>
                      <a:r>
                        <a:t>14 % beter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3A3D"/>
                          </a:solidFill>
                        </a:defRPr>
                      </a:pPr>
                      <a:r>
                        <a:t>Spreiding doelvariabele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3A3D"/>
                          </a:solidFill>
                        </a:defRPr>
                      </a:pPr>
                      <a:r>
                        <a:t>2,2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3A3D"/>
                          </a:solidFill>
                        </a:defRPr>
                      </a:pPr>
                      <a:r>
                        <a:t>11,4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3A3D"/>
                          </a:solidFill>
                        </a:defRPr>
                      </a:pPr>
                      <a:r>
                        <a:t>Tijd tussen t-punten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3A3D"/>
                          </a:solidFill>
                        </a:defRPr>
                      </a:pPr>
                      <a:r>
                        <a:t>3–4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3A3D"/>
                          </a:solidFill>
                        </a:defRPr>
                      </a:pPr>
                      <a:r>
                        <a:t>Regio's met voorspellingen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3A3D"/>
                          </a:solidFill>
                        </a:defRPr>
                      </a:pPr>
                      <a:r>
                        <a:t>7.444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3A3D"/>
                          </a:solidFill>
                        </a:defRPr>
                      </a:pPr>
                      <a:r>
                        <a:t>8.006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457200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0">
                <a:solidFill>
                  <a:srgbClr val="1F3A3D"/>
                </a:solidFill>
              </a:defRPr>
            </a:pPr>
            <a:r>
              <a:t>Dezelfde meetruis, gedeeld door een 4× kleiner tijdsverschil: het doel wordt 4× ruiziger en élke fout groeit mee — ook die van de baseline. Relatief verslaat het model nu voor het eerst de baseline.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Drie assen om te verbeteren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Uitgangspunt: het model van 19 augustus, resolutie 1, één vaste testset van 1.174 vlakken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 · Opschonen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Verkeerde-oever-detecties weghalen zónder de meting weg te gooien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Kribben, bruggen, nevengeulen, doolhoven, fragmenten, uitschieters in de tijd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 · Meerdere t-punten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Snelheid als trend over álle metingen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Versnelling, terugkeer naar gemiddelde, recente helling als feature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 · Resolutie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Meerdere segmenten per vlak in plaats van één afstand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Gemeten én voorspelde oever als lijn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0">
                <a:solidFill>
                  <a:srgbClr val="1F3A3D"/>
                </a:solidFill>
              </a:defRPr>
            </a:pPr>
            <a:r>
              <a:t>Leeswijzer: op deze vaste testset scoort het model van 19 augustus 3,99 m/jr (4,12 op de eigen split van toen). Alle cijfers hierna zijn op deze set, zodat stappen optelbaar zijn.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Opschonen: van 3,99 naar 2,27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Zeven regels — herstellen in plaats van weggooien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5</a:t>
            </a:r>
          </a:p>
        </p:txBody>
      </p:sp>
      <p:pic>
        <p:nvPicPr>
          <p:cNvPr id="5" name="Picture 4" descr="cleaning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949440" cy="2902971"/>
          </a:xfrm>
          <a:prstGeom prst="rect">
            <a:avLst/>
          </a:prstGeom>
        </p:spPr>
      </p:pic>
      <p:pic>
        <p:nvPicPr>
          <p:cNvPr id="6" name="Picture 5" descr="aug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463040"/>
            <a:ext cx="4297680" cy="2416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572000"/>
            <a:ext cx="6949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Kronkelende lijnen, verkeerde oever, doolhoven, fragmenten, te weinig punten, uitschieters t.o.v. de trend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Een uitschieter kost één meting, niet het hele vlak: +511 vlakken t.o.v. de oude |v| &gt; 50-filter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Elke variant visueel gecontroleerd (50+ varianten, dekking blijft 0,94)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4023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Kribben · meeroeverig · bruggen · doolhoven · randen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Kribben en kunstwerken: nu een laag, geen gok meer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Deze week geleverd: kribben landelijk (1.922 → 4.698) + 6.386 kunstwerken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6</a:t>
            </a:r>
          </a:p>
        </p:txBody>
      </p:sp>
      <p:pic>
        <p:nvPicPr>
          <p:cNvPr id="5" name="Picture 4" descr="nederrijn_r_4780_47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3566490"/>
          </a:xfrm>
          <a:prstGeom prst="rect">
            <a:avLst/>
          </a:prstGeom>
        </p:spPr>
      </p:pic>
      <p:pic>
        <p:nvPicPr>
          <p:cNvPr id="6" name="Picture 5" descr="structures_ab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463040"/>
            <a:ext cx="4572000" cy="19098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402336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Op de vaste testset is de laag metrisch neutraal: de opschoonregels vangen deze artefacten al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Wél: 218 vlakken vallen af waarvan de 'oever' een constructie was — juistheid en dekking, geen foutwinst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Les: wat een regel kan afleiden, hoeft niet gelabeld · wat een regel níet kan zien, wel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links: zonder masker · rechts: met kribben + bruggen/kades/steigers (10 m) · grijs = constructie · paars = VVR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2 · Meerdere t-punten: van 2,27 naar 2,13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Historie-features op resolutie 1 — en de horizon als meetlat voor het alarm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7</a:t>
            </a:r>
          </a:p>
        </p:txBody>
      </p:sp>
      <p:pic>
        <p:nvPicPr>
          <p:cNvPr id="5" name="Picture 4" descr="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28265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55448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Features uit de hele meetreeks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Trend (Theil–Sen), spreiding om de trend, versnelling, terugkeer naar gemiddelde, recente helling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níet werkte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Trainen op losse jaar-op-jaar stappen (sub-jaar ruis), huber-loss (beter gemiddeld, slechter op de staart), debiet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Horizon ≥ 2 jaar — voor het alarm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Hoogtemodel-paren zijn altijd 3–5 jaar uit elkaar; SAM-paren 1 jaar → ruis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Zelfde doel (m/jr), zelfde fout, alleen paren ≥ 2 jaar: 1 vlak met 6 metingen = 10 leervoorbeelden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Resolutie: van scalar naar oeverlijn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vlak verbergt dat 20 m hard erodeert en 80 m stil ligt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8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216996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5544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je ziet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groen = gemeten oever per segment (2026) · bruin = voorspeld 2027 per segment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gestippeld = de oude voorspelling: één getal voor het hele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paars = VVR / signaleringslijn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Dit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Eén getal zegt −9,7 m/jr; de vijf segmenten lopen van −17,1 tot +1,4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Het bovenste segment nadert de VVR; de rest niet — het alarm hoort per segment te kijken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Vandaag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VVR-jaar = één drempel per vlak (het verst gelegen punt van de signaleringslijn) tegen één scalar → per definitie laat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Hoe fijn kan het?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Zelfde vlak, R = 1 … 100 · en de fout op de vaste testset per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9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760720" cy="3280921"/>
          </a:xfrm>
          <a:prstGeom prst="rect">
            <a:avLst/>
          </a:prstGeom>
        </p:spPr>
      </p:pic>
      <p:pic>
        <p:nvPicPr>
          <p:cNvPr id="6" name="Picture 5" descr="resolution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577840" cy="23300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11430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De segment-representatie (bruin) volgt de gemeten oever vanaf R ≈ 5–10; bij R = 50–100 raken segmenten leeg (rood)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Fout per segment daalt van 2,25 (R = 1) naar 1,88 (R = 5) en 1,61 (R = 20) — kleiner wordt nauwkeuriger, niet ruiziger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Terug-samengevoegd per vlak blijft de fout ≈ 2,1–2,2: het vlak-getal zelf heeft een vloer (0,5–1,1 m/jr representatiefout)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Grens ligt bij de lijnbemonstering (60 punten per lijn), niet bij het model · praktisch: R = 5–10 (≈ 10–20 m)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Alles bij elkaar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Stap voor stap, op één vaste testset — waar zit de winst?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10</a:t>
            </a:r>
          </a:p>
        </p:txBody>
      </p:sp>
      <p:pic>
        <p:nvPicPr>
          <p:cNvPr id="5" name="Picture 4" descr="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44256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1F3A3D"/>
                </a:solidFill>
              </a:defRPr>
            </a:pPr>
            <a:r>
              <a:t>• Opschonen: −1,72 m/jr (−43 %) · historie-features: −0,14 · structurenlaag: ±0 (dekking/juistheid) · resolutie: andere eenheid, −0,25 per segment</a:t>
            </a:r>
          </a:p>
          <a:p>
            <a:pPr>
              <a:spcAft>
                <a:spcPts val="400"/>
              </a:spcAft>
              <a:defRPr sz="1400" b="1">
                <a:solidFill>
                  <a:srgbClr val="1F3A3D"/>
                </a:solidFill>
              </a:defRPr>
            </a:pPr>
            <a:r>
              <a:t>Het model was nooit de bottleneck — de labels waren het. En de regels raken op: wat overblijft, kan alleen een mens zien.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Scorebord — eerlijk gemeten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Alleen binnen een rij vergelijken: elke rij is een andere meetlat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1463040"/>
                <a:gridCol w="2194560"/>
                <a:gridCol w="256032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meetlat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LightGBM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risicogevallen &gt; 2 m/jr</a:t>
                      </a:r>
                    </a:p>
                    <a:p>
                      <a:r>
                        <a:t>LGB / 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maart · hoogtemodel · 3–4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0,78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0,94  (−20 %)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4,6 / 5,5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19 aug · hybride · 1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4,79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4,12  (+14 %)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≈ 8,3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zelfde 1-jr meetlat · eerlijke validatie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2,86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2,47  (+13 %)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5,0 / 6,3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segment · ≥ 2 jr · eerlijke validatie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1,79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1,23  (+31 %)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3,5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Eerlijk: de testset speelt geen rol meer bij het trainen (in maart en augustus wél) — strenger, en tóch lager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Vlakken met voorspelling 8.006 → 10.721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1,23 is m/jr op een gladdere meetlat — lees het als '31 % beter dan niets doen', niet als '2× beter dan 2,47'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Toezegging 10× (op 4,12): nu 1,7× op die exacte meetlat, met strengere validatie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we vragen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Labelen is trial-and-error — geen eenmalige levering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Hoogtemodel-engineers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De vijfdeling (scope_coverage) meeleveren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lijn een vlag: 'dit is een constructie / verkeerde oever'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Bekende randgevallen: meeroeverig, hoogwater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SAM-engineers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Kwaliteitsvlag per meting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Vooral: méér jaren — elk jaar maakt het model vanzelf beter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Waar mogelijk: één lijn per meetmoment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E0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Labelronde in QGIS: wij leveren de gesorteerde lijst twijfelgevallen, jullie het oordeel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Eerste ronde: ~200 vlakken, twee uur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Daarna meten we opnieuw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dit oplevert voor asset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Van 'dit vlak gemiddeld' naar 'deze 20 meter'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13</a:t>
            </a:r>
          </a:p>
        </p:txBody>
      </p:sp>
      <p:pic>
        <p:nvPicPr>
          <p:cNvPr id="5" name="Picture 4" descr="r5_rijn_12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3388524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173736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segment een verwachte positie ≥ 2 jaar vooruit (48.000 segmenten, 10.000 vlakken)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Een vlak kleurt rood zodra énig segment de signaleringslijn nadert — met het segment erbij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Kribvakken en meerdelige vlakken worden daarmee vanzelf goed behandeld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Bestaande stoplicht-kaart en tijdslider blijven; dit komt er als laag bij</a:t>
            </a:r>
          </a:p>
          <a:p>
            <a:pPr>
              <a:spcAft>
                <a:spcPts val="600"/>
              </a:spcAft>
              <a:defRPr sz="1500" b="1">
                <a:solidFill>
                  <a:srgbClr val="1F3A3D"/>
                </a:solidFill>
              </a:defRPr>
            </a:pPr>
            <a:r>
              <a:t>Status: segmentvoorspellingen staan klaar; koppeling aan het VVR-alarm is de volgende stap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Samenvattend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Model: klaar en eerlijk gevalideerd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Hybride bron, opschoonregels, historie-features, testset buiten de training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Van lijn naar oever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Vijf segmenten per vlak; gemeten én voorspelde oever als lijn; positiefout ≈ 1 m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Bottleneck: gelabelde input, niet het algoritme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Opschonen leverde 12× zoveel als modelleren; de regels raken op — wat overblijft vraagt een oordeel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Volgende stap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Labelronde met SAM- en hoogtemodel-engineers · VVR-alarm op segmentniveau · daarna opnieuw meten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