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58" r:id="rId6"/>
    <p:sldId id="271" r:id="rId7"/>
    <p:sldId id="261" r:id="rId8"/>
    <p:sldId id="272" r:id="rId9"/>
    <p:sldId id="273" r:id="rId10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6"/>
    <p:restoredTop sz="94695"/>
  </p:normalViewPr>
  <p:slideViewPr>
    <p:cSldViewPr snapToGrid="0" snapToObjects="1">
      <p:cViewPr varScale="1">
        <p:scale>
          <a:sx n="101" d="100"/>
          <a:sy n="101" d="100"/>
        </p:scale>
        <p:origin x="8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46873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 err="1"/>
              <a:t>Oevererosietool</a:t>
            </a:r>
            <a:r>
              <a:rPr dirty="0"/>
              <a:t> — van </a:t>
            </a:r>
            <a:r>
              <a:rPr dirty="0" err="1"/>
              <a:t>lijn</a:t>
            </a:r>
            <a:r>
              <a:rPr dirty="0"/>
              <a:t> </a:t>
            </a:r>
            <a:r>
              <a:rPr dirty="0" err="1"/>
              <a:t>naar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rPr dirty="0" err="1"/>
              <a:t>Voortgang</a:t>
            </a:r>
            <a:r>
              <a:rPr dirty="0"/>
              <a:t> </a:t>
            </a:r>
            <a:r>
              <a:rPr dirty="0" err="1"/>
              <a:t>voorspellend</a:t>
            </a:r>
            <a:r>
              <a:rPr dirty="0"/>
              <a:t> model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rPr dirty="0"/>
              <a:t>Update 26 </a:t>
            </a:r>
            <a:r>
              <a:rPr dirty="0" err="1"/>
              <a:t>augustus</a:t>
            </a:r>
            <a:r>
              <a:rPr dirty="0"/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485145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Eén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per </a:t>
            </a:r>
            <a:r>
              <a:rPr dirty="0" err="1"/>
              <a:t>scopevlak</a:t>
            </a:r>
            <a:r>
              <a:rPr dirty="0"/>
              <a:t> </a:t>
            </a:r>
            <a:r>
              <a:rPr lang="en-US" dirty="0"/>
              <a:t>-&gt; </a:t>
            </a:r>
            <a:r>
              <a:rPr dirty="0" err="1"/>
              <a:t>oever</a:t>
            </a:r>
            <a:r>
              <a:rPr dirty="0"/>
              <a:t> is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rechte</a:t>
            </a:r>
            <a:r>
              <a:rPr dirty="0"/>
              <a:t> </a:t>
            </a:r>
            <a:r>
              <a:rPr dirty="0" err="1"/>
              <a:t>lijn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 err="1"/>
              <a:t>hoogtemodel</a:t>
            </a:r>
            <a:r>
              <a:rPr dirty="0"/>
              <a:t> (</a:t>
            </a:r>
            <a:r>
              <a:rPr dirty="0" err="1"/>
              <a:t>maart</a:t>
            </a:r>
            <a:r>
              <a:rPr dirty="0"/>
              <a:t>): de </a:t>
            </a:r>
            <a:r>
              <a:rPr dirty="0" err="1"/>
              <a:t>ene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(</a:t>
            </a:r>
            <a:r>
              <a:rPr dirty="0" err="1"/>
              <a:t>gestippeld</a:t>
            </a:r>
            <a:r>
              <a:rPr dirty="0"/>
              <a:t>) </a:t>
            </a:r>
            <a:r>
              <a:rPr dirty="0" err="1"/>
              <a:t>ligt</a:t>
            </a:r>
            <a:r>
              <a:rPr dirty="0"/>
              <a:t> 38 m </a:t>
            </a:r>
            <a:r>
              <a:rPr dirty="0" err="1"/>
              <a:t>naast</a:t>
            </a:r>
            <a:r>
              <a:rPr dirty="0"/>
              <a:t> de </a:t>
            </a:r>
            <a:r>
              <a:rPr dirty="0" err="1"/>
              <a:t>gemeten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5143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</a:t>
            </a:r>
            <a:r>
              <a:rPr lang="en-US" dirty="0"/>
              <a:t>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3</a:t>
            </a:r>
            <a:endParaRPr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806509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Uitgangspunt</a:t>
            </a:r>
            <a:r>
              <a:rPr dirty="0"/>
              <a:t>: het model van 19 </a:t>
            </a:r>
            <a:r>
              <a:rPr dirty="0" err="1"/>
              <a:t>augustus</a:t>
            </a:r>
            <a:r>
              <a:rPr dirty="0"/>
              <a:t>, </a:t>
            </a:r>
            <a:r>
              <a:rPr dirty="0" err="1"/>
              <a:t>resolutie</a:t>
            </a:r>
            <a:r>
              <a:rPr dirty="0"/>
              <a:t> 1,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van 1174 </a:t>
            </a:r>
            <a:r>
              <a:rPr dirty="0" err="1"/>
              <a:t>vlakken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Verkeerde-oever-detecties</a:t>
            </a:r>
            <a:r>
              <a:rPr dirty="0"/>
              <a:t> </a:t>
            </a:r>
            <a:r>
              <a:rPr dirty="0" err="1"/>
              <a:t>weghalen</a:t>
            </a:r>
            <a:r>
              <a:rPr dirty="0"/>
              <a:t> </a:t>
            </a:r>
            <a:r>
              <a:rPr dirty="0" err="1"/>
              <a:t>zónder</a:t>
            </a:r>
            <a:r>
              <a:rPr dirty="0"/>
              <a:t> de meting </a:t>
            </a:r>
            <a:r>
              <a:rPr dirty="0" err="1"/>
              <a:t>weg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gooien</a:t>
            </a:r>
            <a:endParaRPr dirty="0"/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Kribben</a:t>
            </a:r>
            <a:r>
              <a:rPr dirty="0"/>
              <a:t>, </a:t>
            </a:r>
            <a:r>
              <a:rPr dirty="0" err="1"/>
              <a:t>bruggen</a:t>
            </a:r>
            <a:r>
              <a:rPr dirty="0"/>
              <a:t>, </a:t>
            </a:r>
            <a:r>
              <a:rPr dirty="0" err="1"/>
              <a:t>nevengeulen</a:t>
            </a:r>
            <a:r>
              <a:rPr dirty="0"/>
              <a:t>, </a:t>
            </a:r>
            <a:r>
              <a:rPr dirty="0" err="1"/>
              <a:t>doolhoven</a:t>
            </a:r>
            <a:r>
              <a:rPr dirty="0"/>
              <a:t>, </a:t>
            </a:r>
            <a:r>
              <a:rPr dirty="0" err="1"/>
              <a:t>fragmenten</a:t>
            </a:r>
            <a:r>
              <a:rPr dirty="0"/>
              <a:t>, </a:t>
            </a:r>
            <a:r>
              <a:rPr dirty="0" err="1"/>
              <a:t>uitschieters</a:t>
            </a:r>
            <a:r>
              <a:rPr dirty="0"/>
              <a:t> in de </a:t>
            </a:r>
            <a:r>
              <a:rPr dirty="0" err="1"/>
              <a:t>tijd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rPr dirty="0" err="1"/>
              <a:t>Leeswijzer</a:t>
            </a:r>
            <a:r>
              <a:rPr dirty="0"/>
              <a:t>: op </a:t>
            </a:r>
            <a:r>
              <a:rPr dirty="0" err="1"/>
              <a:t>deze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</a:t>
            </a:r>
            <a:r>
              <a:rPr dirty="0" err="1"/>
              <a:t>scoort</a:t>
            </a:r>
            <a:r>
              <a:rPr dirty="0"/>
              <a:t> het model van 19 </a:t>
            </a:r>
            <a:r>
              <a:rPr dirty="0" err="1"/>
              <a:t>augustus</a:t>
            </a:r>
            <a:r>
              <a:rPr dirty="0"/>
              <a:t> 3.99 m/</a:t>
            </a:r>
            <a:r>
              <a:rPr dirty="0" err="1"/>
              <a:t>jr</a:t>
            </a:r>
            <a:r>
              <a:rPr dirty="0"/>
              <a:t> (4.12 op de eigen split van </a:t>
            </a:r>
            <a:r>
              <a:rPr dirty="0" err="1"/>
              <a:t>toen</a:t>
            </a:r>
            <a:r>
              <a:rPr dirty="0"/>
              <a:t>). Alle </a:t>
            </a:r>
            <a:r>
              <a:rPr dirty="0" err="1"/>
              <a:t>cijfers</a:t>
            </a:r>
            <a:r>
              <a:rPr dirty="0"/>
              <a:t> </a:t>
            </a:r>
            <a:r>
              <a:rPr dirty="0" err="1"/>
              <a:t>hierna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op </a:t>
            </a:r>
            <a:r>
              <a:rPr dirty="0" err="1"/>
              <a:t>deze</a:t>
            </a:r>
            <a:r>
              <a:rPr dirty="0"/>
              <a:t> set, </a:t>
            </a:r>
            <a:r>
              <a:rPr dirty="0" err="1"/>
              <a:t>zodat</a:t>
            </a:r>
            <a:r>
              <a:rPr dirty="0"/>
              <a:t> </a:t>
            </a:r>
            <a:r>
              <a:rPr dirty="0" err="1"/>
              <a:t>stappen</a:t>
            </a:r>
            <a:r>
              <a:rPr dirty="0"/>
              <a:t> </a:t>
            </a:r>
            <a:r>
              <a:rPr dirty="0" err="1"/>
              <a:t>optelbaar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635058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Verkennende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SAM </a:t>
            </a:r>
            <a:r>
              <a:rPr lang="en-US" dirty="0" err="1"/>
              <a:t>resultaten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  <a:endParaRPr dirty="0"/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rPr lang="en-US" dirty="0" err="1"/>
              <a:t>Terugkerende</a:t>
            </a:r>
            <a:r>
              <a:rPr dirty="0"/>
              <a:t> </a:t>
            </a:r>
            <a:r>
              <a:rPr dirty="0" err="1"/>
              <a:t>patronen</a:t>
            </a:r>
            <a:r>
              <a:rPr dirty="0"/>
              <a:t> — elk </a:t>
            </a:r>
            <a:r>
              <a:rPr dirty="0" err="1"/>
              <a:t>een</a:t>
            </a:r>
            <a:r>
              <a:rPr dirty="0"/>
              <a:t> '</a:t>
            </a:r>
            <a:r>
              <a:rPr dirty="0" err="1"/>
              <a:t>oever</a:t>
            </a:r>
            <a:r>
              <a:rPr dirty="0"/>
              <a:t>' die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oever</a:t>
            </a:r>
            <a:r>
              <a:rPr dirty="0"/>
              <a:t>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 b="27893"/>
          <a:stretch>
            <a:fillRect/>
          </a:stretch>
        </p:blipFill>
        <p:spPr>
          <a:xfrm>
            <a:off x="289560" y="1993901"/>
            <a:ext cx="11612880" cy="3401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 — en alles samen: 3.99 → 2.27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Grootste winst: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Doolhof, fragment, kronkelende lijn: elk ≈ −0.3 tot −0.4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Kribben &amp; kunstwerken landelijk: 3.89 / 8.52 — geen foutwinst, wél 10 % minder vlakken: het masker haalt alleen de lijnen het dichtst bij de hartlijn weg, en rond kribben blijft geen vlak over om te voorspellen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Samen: 2.27 / 4.54 bij dekking 0.94 — meer dan de som van de delen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778"/>
                </a:solidFill>
              </a:defRPr>
            </a:pPr>
            <a:r>
              <a:t>Leeswijzer: 4.12 was de score van het 19 aug-model op zijn eigen willekeurige splitsing; op de bevroren testset van 1 174 vlakken scoort datzelfde model 3.99. Alle stappen in As 1–3 zijn op deze vaste set gemeten.</a:t>
            </a:r>
          </a:p>
        </p:txBody>
      </p:sp>
      <p:pic>
        <p:nvPicPr>
          <p:cNvPr id="9" name="Picture 8" descr="rule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17320"/>
            <a:ext cx="738156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20)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0.85 (R = 20); skill t.o.v. naïef stijgt van +23 % naar +29–30 % — hoe fijner, hoe beter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20 (≈ 5 m). Prijs: 31 % van de segment-datums heeft nog geen meting — dat lossen we op in de lijnbemonstering (60 → meer punten per lijn), niet in het model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endParaRPr/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20: skill +29 %, positiefout 0.85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nu staan — alle condities naast elkaar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Zelfde opzet als slide 3 · de laatste kolom is de te-doen-stap: alles opnieuw op een willekeurige splitsing, testset buiten de training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554480"/>
                <a:gridCol w="1737360"/>
                <a:gridCol w="2286000"/>
                <a:gridCol w="18288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maart 2026</a:t>
                      </a:r>
                    </a:p>
                    <a:p>
                      <a: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19 augustus</a:t>
                      </a:r>
                    </a:p>
                    <a:p>
                      <a:r>
                        <a:t>hybride, eigen split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nu</a:t>
                      </a:r>
                    </a:p>
                    <a:p>
                      <a:r>
                        <a:t>vaste testset · R = 20 · paren ≥ 2 jr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te doen</a:t>
                      </a:r>
                    </a:p>
                    <a:p>
                      <a:r>
                        <a:t>willekeurige split, eerlijk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1.20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 (skill)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−20 %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+14 %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+29 %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2.89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Eenheid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vlak (≈ 100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vlak (≈ 100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segment (≈ 5 m)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segment (≈ 5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≥ 2 jaar (alle paren)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≥ 2 jaar (alle paren)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vast · 715 vlakken · 8 578 segmenten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test-set 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test-set 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3A3D"/>
                          </a:solidFill>
                        </a:defRPr>
                      </a:pPr>
                      <a:r>
                        <a:t>test-set early stopping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3A3D"/>
                          </a:solidFill>
                        </a:defRPr>
                      </a:pPr>
                      <a:r>
                        <a:t>testset buiten de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Let op: de 'nu'-kolom is het experiment (vaste testset, 715 vlakken met een ≥ 2-jaar-paar, R = 20); pas na de eerlijke run op een willekeurige splitsing zijn de kolommen echt vergelijkbaar. De vorige eerlijke run (R = 5, 1 jr) gaf 2.47 / 5.0 per vlak en 1.23 / 3.5 per segment.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Samenvattend — en waar we jullie input op willen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Opschonen leverde het meest · van lijn naar oever · de regels raken op: wat overblijft vraagt kennis van de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Feedback gevraagd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Welke bewerking heeft de SAM-data nog nodig? Kronkelende lijnen, doolhoven en uitschieters in de tijd zijn puur SAM-verschijnselen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Welke parameters bepalen de output van het hybride model? We willen daaraan draaien: ook ná filteren is het pure hoogtemodel nauwkeuriger — SAM segmenteert en mikt niet op een rechte lijn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Wat missen we in de vijf patronen?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Wat wij gaan doen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37744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Eindrun op een willekeurige splitsing, testset buiten de training, R = 20 — dan is de tabel compleet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 staart onderzoeken: de vlakken met de grootste bijdrage aan de fout én de minst voorspelbare — wat hebben ze gemeen?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Lijnbemonstering verdichten zodat segmenten zonder meting verdwijnen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1F3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Wat er staat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7744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Model klaar, alle stappen op één vaste testset: 3.99 → 2.27 (opschonen) → 2.13 (historie) → 1.37 (paren ≥ 2 jr) → 0.85 (R = 20)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Kribben + kunstwerken landelijk als laag; structurenmasker = juistheid, geen foutwinst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Alles reproduceerbaar: ledger met 80+ varianten, rapport per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2149</Words>
  <Application>Microsoft Macintosh PowerPoint</Application>
  <PresentationFormat>Widescreen</PresentationFormat>
  <Paragraphs>195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5</cp:revision>
  <dcterms:created xsi:type="dcterms:W3CDTF">2013-01-27T09:14:16Z</dcterms:created>
  <dcterms:modified xsi:type="dcterms:W3CDTF">2026-08-26T10:25:33Z</dcterms:modified>
  <cp:category/>
</cp:coreProperties>
</file>