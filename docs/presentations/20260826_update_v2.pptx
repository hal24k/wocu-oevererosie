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9" r:id="rId5"/>
    <p:sldId id="258" r:id="rId6"/>
    <p:sldId id="271" r:id="rId7"/>
    <p:sldId id="261" r:id="rId8"/>
    <p:sldId id="272" r:id="rId9"/>
    <p:sldId id="273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11"/>
    <p:restoredTop sz="94651"/>
  </p:normalViewPr>
  <p:slideViewPr>
    <p:cSldViewPr snapToGrid="0" snapToObjects="1">
      <p:cViewPr varScale="1">
        <p:scale>
          <a:sx n="213" d="100"/>
          <a:sy n="213" d="100"/>
        </p:scale>
        <p:origin x="9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FDD8D-4CBC-4347-B89D-F063BFE20A1D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BB5FF-E68F-F848-8B49-42D48E971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7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 </a:t>
            </a:r>
            <a:r>
              <a:rPr dirty="0" err="1"/>
              <a:t>val</a:t>
            </a:r>
            <a:r>
              <a:rPr dirty="0"/>
              <a:t>: het </a:t>
            </a:r>
            <a:r>
              <a:rPr dirty="0" err="1"/>
              <a:t>maartcijfer</a:t>
            </a:r>
            <a:r>
              <a:rPr dirty="0"/>
              <a:t> zag er </a:t>
            </a:r>
            <a:r>
              <a:rPr dirty="0" err="1"/>
              <a:t>goed</a:t>
            </a:r>
            <a:r>
              <a:rPr dirty="0"/>
              <a:t> </a:t>
            </a:r>
            <a:r>
              <a:rPr dirty="0" err="1"/>
              <a:t>uit</a:t>
            </a:r>
            <a:r>
              <a:rPr dirty="0"/>
              <a:t> </a:t>
            </a:r>
            <a:r>
              <a:rPr dirty="0" err="1"/>
              <a:t>omdat</a:t>
            </a:r>
            <a:r>
              <a:rPr dirty="0"/>
              <a:t> de </a:t>
            </a:r>
            <a:r>
              <a:rPr dirty="0" err="1"/>
              <a:t>meetlat</a:t>
            </a:r>
            <a:r>
              <a:rPr dirty="0"/>
              <a:t> mild was (3–4 </a:t>
            </a:r>
            <a:r>
              <a:rPr dirty="0" err="1"/>
              <a:t>jaar</a:t>
            </a:r>
            <a:r>
              <a:rPr dirty="0"/>
              <a:t>) </a:t>
            </a:r>
            <a:r>
              <a:rPr dirty="0" err="1"/>
              <a:t>én</a:t>
            </a:r>
            <a:r>
              <a:rPr dirty="0"/>
              <a:t> </a:t>
            </a:r>
            <a:r>
              <a:rPr dirty="0" err="1"/>
              <a:t>omdat</a:t>
            </a:r>
            <a:r>
              <a:rPr dirty="0"/>
              <a:t>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getal</a:t>
            </a:r>
            <a:r>
              <a:rPr dirty="0"/>
              <a:t> per </a:t>
            </a:r>
            <a:r>
              <a:rPr dirty="0" err="1"/>
              <a:t>vlak</a:t>
            </a:r>
            <a:r>
              <a:rPr dirty="0"/>
              <a:t> </a:t>
            </a:r>
            <a:r>
              <a:rPr dirty="0" err="1"/>
              <a:t>veel</a:t>
            </a:r>
            <a:r>
              <a:rPr dirty="0"/>
              <a:t> </a:t>
            </a:r>
            <a:r>
              <a:rPr dirty="0" err="1"/>
              <a:t>verbergt</a:t>
            </a:r>
            <a:r>
              <a:rPr dirty="0"/>
              <a:t>. </a:t>
            </a:r>
            <a:r>
              <a:rPr dirty="0" err="1"/>
              <a:t>paars</a:t>
            </a:r>
            <a:r>
              <a:rPr dirty="0"/>
              <a:t> = VVR, </a:t>
            </a:r>
            <a:r>
              <a:rPr dirty="0" err="1"/>
              <a:t>zwart</a:t>
            </a:r>
            <a:r>
              <a:rPr dirty="0"/>
              <a:t> = </a:t>
            </a:r>
            <a:r>
              <a:rPr dirty="0" err="1"/>
              <a:t>hartlijn</a:t>
            </a:r>
            <a:r>
              <a:rPr dirty="0"/>
              <a:t>, </a:t>
            </a:r>
            <a:r>
              <a:rPr dirty="0" err="1"/>
              <a:t>groen</a:t>
            </a:r>
            <a:r>
              <a:rPr dirty="0"/>
              <a:t> = </a:t>
            </a:r>
            <a:r>
              <a:rPr dirty="0" err="1"/>
              <a:t>gemeten</a:t>
            </a:r>
            <a:r>
              <a:rPr dirty="0"/>
              <a:t> </a:t>
            </a:r>
            <a:r>
              <a:rPr dirty="0" err="1"/>
              <a:t>oever</a:t>
            </a:r>
            <a:r>
              <a:rPr dirty="0"/>
              <a:t> per </a:t>
            </a:r>
            <a:r>
              <a:rPr dirty="0" err="1"/>
              <a:t>jaar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B5FF-E68F-F848-8B49-42D48E9715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9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Dit is de hele </a:t>
            </a:r>
            <a:r>
              <a:rPr dirty="0" err="1"/>
              <a:t>presentatie</a:t>
            </a:r>
            <a:r>
              <a:rPr dirty="0"/>
              <a:t> in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plaatje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BB5FF-E68F-F848-8B49-42D48E9715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9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824687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Oevererosietool</a:t>
            </a:r>
            <a:r>
              <a:rPr dirty="0"/>
              <a:t> — van </a:t>
            </a:r>
            <a:r>
              <a:rPr dirty="0" err="1"/>
              <a:t>lijn</a:t>
            </a:r>
            <a:r>
              <a:rPr dirty="0"/>
              <a:t> </a:t>
            </a:r>
            <a:r>
              <a:rPr dirty="0" err="1"/>
              <a:t>naar</a:t>
            </a:r>
            <a:r>
              <a:rPr dirty="0"/>
              <a:t> </a:t>
            </a:r>
            <a:r>
              <a:rPr dirty="0" err="1"/>
              <a:t>oever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 err="1"/>
              <a:t>Voortgang</a:t>
            </a:r>
            <a:r>
              <a:rPr dirty="0"/>
              <a:t> </a:t>
            </a:r>
            <a:r>
              <a:rPr dirty="0" err="1"/>
              <a:t>voorspellend</a:t>
            </a:r>
            <a:r>
              <a:rPr dirty="0"/>
              <a:t> model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Update 26 </a:t>
            </a:r>
            <a:r>
              <a:rPr dirty="0" err="1"/>
              <a:t>augustus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Waar we in maart stonden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485145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rPr dirty="0" err="1"/>
              <a:t>Eén</a:t>
            </a:r>
            <a:r>
              <a:rPr dirty="0"/>
              <a:t> </a:t>
            </a:r>
            <a:r>
              <a:rPr dirty="0" err="1"/>
              <a:t>afstand</a:t>
            </a:r>
            <a:r>
              <a:rPr dirty="0"/>
              <a:t> per </a:t>
            </a:r>
            <a:r>
              <a:rPr dirty="0" err="1"/>
              <a:t>scopevlak</a:t>
            </a:r>
            <a:r>
              <a:rPr dirty="0"/>
              <a:t> </a:t>
            </a:r>
            <a:r>
              <a:rPr lang="en-US" dirty="0"/>
              <a:t>-&gt; </a:t>
            </a:r>
            <a:r>
              <a:rPr dirty="0" err="1"/>
              <a:t>oever</a:t>
            </a:r>
            <a:r>
              <a:rPr dirty="0"/>
              <a:t> is </a:t>
            </a:r>
            <a:r>
              <a:rPr dirty="0" err="1"/>
              <a:t>geen</a:t>
            </a:r>
            <a:r>
              <a:rPr dirty="0"/>
              <a:t> </a:t>
            </a:r>
            <a:r>
              <a:rPr dirty="0" err="1"/>
              <a:t>rechte</a:t>
            </a:r>
            <a:r>
              <a:rPr dirty="0"/>
              <a:t> </a:t>
            </a:r>
            <a:r>
              <a:rPr dirty="0" err="1"/>
              <a:t>lijn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2</a:t>
            </a:r>
          </a:p>
        </p:txBody>
      </p:sp>
      <p:pic>
        <p:nvPicPr>
          <p:cNvPr id="5" name="Picture 4" descr="maas3_l_17410_17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511761" cy="4206240"/>
          </a:xfrm>
          <a:prstGeom prst="rect">
            <a:avLst/>
          </a:prstGeom>
        </p:spPr>
      </p:pic>
      <p:pic>
        <p:nvPicPr>
          <p:cNvPr id="6" name="Picture 5" descr="nederrijn_r_4470_44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58030"/>
            <a:ext cx="4527056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B7778"/>
                </a:solidFill>
              </a:defRPr>
            </a:pPr>
            <a:r>
              <a:rPr dirty="0" err="1"/>
              <a:t>hoogtemodel</a:t>
            </a:r>
            <a:r>
              <a:rPr dirty="0"/>
              <a:t> (</a:t>
            </a:r>
            <a:r>
              <a:rPr dirty="0" err="1"/>
              <a:t>maart</a:t>
            </a:r>
            <a:r>
              <a:rPr dirty="0"/>
              <a:t>): de </a:t>
            </a:r>
            <a:r>
              <a:rPr dirty="0" err="1"/>
              <a:t>ene</a:t>
            </a:r>
            <a:r>
              <a:rPr dirty="0"/>
              <a:t> </a:t>
            </a:r>
            <a:r>
              <a:rPr dirty="0" err="1"/>
              <a:t>afstand</a:t>
            </a:r>
            <a:r>
              <a:rPr dirty="0"/>
              <a:t> (</a:t>
            </a:r>
            <a:r>
              <a:rPr dirty="0" err="1"/>
              <a:t>gestippeld</a:t>
            </a:r>
            <a:r>
              <a:rPr dirty="0"/>
              <a:t>) </a:t>
            </a:r>
            <a:r>
              <a:rPr dirty="0" err="1"/>
              <a:t>ligt</a:t>
            </a:r>
            <a:r>
              <a:rPr dirty="0"/>
              <a:t> 38 m </a:t>
            </a:r>
            <a:r>
              <a:rPr dirty="0" err="1"/>
              <a:t>naast</a:t>
            </a:r>
            <a:r>
              <a:rPr dirty="0"/>
              <a:t> de </a:t>
            </a:r>
            <a:r>
              <a:rPr dirty="0" err="1"/>
              <a:t>gemeten</a:t>
            </a:r>
            <a:r>
              <a:rPr dirty="0"/>
              <a:t> </a:t>
            </a:r>
            <a:r>
              <a:rPr dirty="0" err="1"/>
              <a:t>oever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096000" y="5664270"/>
            <a:ext cx="51435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B7778"/>
                </a:solidFill>
              </a:defRPr>
            </a:pPr>
            <a:r>
              <a:rPr dirty="0"/>
              <a:t>SAM (nu): de </a:t>
            </a:r>
            <a:r>
              <a:rPr dirty="0" err="1"/>
              <a:t>oever</a:t>
            </a:r>
            <a:r>
              <a:rPr dirty="0"/>
              <a:t> </a:t>
            </a:r>
            <a:r>
              <a:rPr dirty="0" err="1"/>
              <a:t>kronkelt</a:t>
            </a:r>
            <a:r>
              <a:rPr dirty="0"/>
              <a:t> om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kribvak</a:t>
            </a:r>
            <a:r>
              <a:rPr dirty="0"/>
              <a:t> —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getal</a:t>
            </a:r>
            <a:r>
              <a:rPr dirty="0"/>
              <a:t> </a:t>
            </a:r>
            <a:r>
              <a:rPr dirty="0" err="1"/>
              <a:t>zegt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nog</a:t>
            </a:r>
            <a:r>
              <a:rPr dirty="0"/>
              <a:t> minder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B593F3-CFB5-118B-2255-4F90EC3B0783}"/>
              </a:ext>
            </a:extLst>
          </p:cNvPr>
          <p:cNvSpPr txBox="1"/>
          <p:nvPr/>
        </p:nvSpPr>
        <p:spPr>
          <a:xfrm>
            <a:off x="548640" y="320040"/>
            <a:ext cx="804406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rPr lang="en-US" dirty="0" err="1"/>
              <a:t>Afgelopen</a:t>
            </a:r>
            <a:r>
              <a:rPr lang="en-US" dirty="0"/>
              <a:t> week: </a:t>
            </a:r>
            <a:r>
              <a:rPr lang="en-US" dirty="0" err="1"/>
              <a:t>nieuwe</a:t>
            </a:r>
            <a:r>
              <a:rPr lang="en-US" dirty="0"/>
              <a:t> SAM data </a:t>
            </a:r>
            <a:r>
              <a:rPr lang="en-US" dirty="0" err="1"/>
              <a:t>meegenomen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D906F-AB61-355A-D295-4446B008C522}"/>
              </a:ext>
            </a:extLst>
          </p:cNvPr>
          <p:cNvSpPr txBox="1"/>
          <p:nvPr/>
        </p:nvSpPr>
        <p:spPr>
          <a:xfrm>
            <a:off x="548640" y="5577840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0">
                <a:solidFill>
                  <a:srgbClr val="1F3A3D"/>
                </a:solidFill>
              </a:defRPr>
            </a:pPr>
            <a:r>
              <a:rPr dirty="0" err="1"/>
              <a:t>Dezelfde</a:t>
            </a:r>
            <a:r>
              <a:rPr dirty="0"/>
              <a:t> </a:t>
            </a:r>
            <a:r>
              <a:rPr dirty="0" err="1"/>
              <a:t>meetruis</a:t>
            </a:r>
            <a:r>
              <a:rPr dirty="0"/>
              <a:t>, </a:t>
            </a:r>
            <a:r>
              <a:rPr dirty="0" err="1"/>
              <a:t>gedeeld</a:t>
            </a:r>
            <a:r>
              <a:rPr dirty="0"/>
              <a:t> door </a:t>
            </a:r>
            <a:r>
              <a:rPr dirty="0" err="1"/>
              <a:t>een</a:t>
            </a:r>
            <a:r>
              <a:rPr dirty="0"/>
              <a:t> 4× </a:t>
            </a:r>
            <a:r>
              <a:rPr dirty="0" err="1"/>
              <a:t>kleiner</a:t>
            </a:r>
            <a:r>
              <a:rPr dirty="0"/>
              <a:t> </a:t>
            </a:r>
            <a:r>
              <a:rPr dirty="0" err="1"/>
              <a:t>tijdsverschil</a:t>
            </a:r>
            <a:r>
              <a:rPr dirty="0"/>
              <a:t>: het </a:t>
            </a:r>
            <a:r>
              <a:rPr dirty="0" err="1"/>
              <a:t>doel</a:t>
            </a:r>
            <a:r>
              <a:rPr dirty="0"/>
              <a:t> </a:t>
            </a:r>
            <a:r>
              <a:rPr dirty="0" err="1"/>
              <a:t>wordt</a:t>
            </a:r>
            <a:r>
              <a:rPr dirty="0"/>
              <a:t> 4× </a:t>
            </a:r>
            <a:r>
              <a:rPr dirty="0" err="1"/>
              <a:t>ruiziger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élke</a:t>
            </a:r>
            <a:r>
              <a:rPr dirty="0"/>
              <a:t> </a:t>
            </a:r>
            <a:r>
              <a:rPr dirty="0" err="1"/>
              <a:t>fout</a:t>
            </a:r>
            <a:r>
              <a:rPr dirty="0"/>
              <a:t> </a:t>
            </a:r>
            <a:r>
              <a:rPr dirty="0" err="1"/>
              <a:t>groeit</a:t>
            </a:r>
            <a:r>
              <a:rPr dirty="0"/>
              <a:t> mee</a:t>
            </a:r>
            <a:r>
              <a:rPr lang="en-US" dirty="0"/>
              <a:t>. </a:t>
            </a:r>
            <a:r>
              <a:rPr dirty="0" err="1"/>
              <a:t>Relatief</a:t>
            </a:r>
            <a:r>
              <a:rPr dirty="0"/>
              <a:t> </a:t>
            </a:r>
            <a:r>
              <a:rPr dirty="0" err="1"/>
              <a:t>verslaat</a:t>
            </a:r>
            <a:r>
              <a:rPr dirty="0"/>
              <a:t> het model nu </a:t>
            </a:r>
            <a:r>
              <a:rPr dirty="0" err="1"/>
              <a:t>voor</a:t>
            </a:r>
            <a:r>
              <a:rPr dirty="0"/>
              <a:t> het </a:t>
            </a:r>
            <a:r>
              <a:rPr dirty="0" err="1"/>
              <a:t>eerst</a:t>
            </a:r>
            <a:r>
              <a:rPr dirty="0"/>
              <a:t> de baseline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778"/>
                </a:solidFill>
              </a:defRPr>
            </a:pPr>
            <a:r>
              <a:t>Oevererosietool · update 26-08-2026 · 3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51747"/>
              </p:ext>
            </p:extLst>
          </p:nvPr>
        </p:nvGraphicFramePr>
        <p:xfrm>
          <a:off x="548640" y="1463040"/>
          <a:ext cx="11064240" cy="391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maart 2026</a:t>
                      </a:r>
                    </a:p>
                    <a:p>
                      <a:pPr algn="ctr"/>
                      <a:r>
                        <a:rPr>
                          <a:solidFill>
                            <a:schemeClr val="tx1"/>
                          </a:solidFill>
                        </a:rPr>
                        <a:t>alleen hoogtemodel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19 augustus</a:t>
                      </a:r>
                    </a:p>
                    <a:p>
                      <a:pPr algn="ctr"/>
                      <a:r>
                        <a:rPr>
                          <a:solidFill>
                            <a:schemeClr val="tx1"/>
                          </a:solidFill>
                        </a:rPr>
                        <a:t>hybride (SAM + hoogtemodel)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nu: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uitgangspunt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dirty="0" err="1">
                          <a:solidFill>
                            <a:schemeClr val="tx1"/>
                          </a:solidFill>
                        </a:rPr>
                        <a:t>zelfde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model,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vaste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testset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Baseline (naïef gemiddelde) — fout test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4.68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LightGBM — fout test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3.99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LightGBM t.o.v.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20 % slechter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14 % beter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15 % beter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LightGBM — fout risicogevallen &gt; 2 m/jr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4.61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9.13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8.30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Spreiding doelvariabele v_test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11.4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Tijd tussen t-punten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3–4 jaar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1 jaar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1 jaar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Testset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willekeurig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willekeurig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vast · 1 174 </a:t>
                      </a:r>
                      <a:r>
                        <a:rPr dirty="0" err="1"/>
                        <a:t>vlakken</a:t>
                      </a:r>
                      <a:endParaRPr dirty="0"/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Regio's met voorspellingen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7 444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8 006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10 437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55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rPr dirty="0" err="1"/>
              <a:t>Drie</a:t>
            </a:r>
            <a:r>
              <a:rPr dirty="0"/>
              <a:t> </a:t>
            </a:r>
            <a:r>
              <a:rPr dirty="0" err="1"/>
              <a:t>assen</a:t>
            </a:r>
            <a:r>
              <a:rPr dirty="0"/>
              <a:t> om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verbeteren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6509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rPr dirty="0" err="1"/>
              <a:t>Uitgangspunt</a:t>
            </a:r>
            <a:r>
              <a:rPr dirty="0"/>
              <a:t>: het model van 19 </a:t>
            </a:r>
            <a:r>
              <a:rPr dirty="0" err="1"/>
              <a:t>augustus</a:t>
            </a:r>
            <a:r>
              <a:rPr dirty="0"/>
              <a:t>, </a:t>
            </a:r>
            <a:r>
              <a:rPr dirty="0" err="1"/>
              <a:t>resolutie</a:t>
            </a:r>
            <a:r>
              <a:rPr dirty="0"/>
              <a:t> 1,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vaste</a:t>
            </a:r>
            <a:r>
              <a:rPr dirty="0"/>
              <a:t> </a:t>
            </a:r>
            <a:r>
              <a:rPr dirty="0" err="1"/>
              <a:t>testset</a:t>
            </a:r>
            <a:r>
              <a:rPr dirty="0"/>
              <a:t> van 1174 </a:t>
            </a:r>
            <a:r>
              <a:rPr dirty="0" err="1"/>
              <a:t>vlakken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2733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4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 · Opschonen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Verkeerde-oever-detecties</a:t>
            </a:r>
            <a:r>
              <a:rPr dirty="0"/>
              <a:t> </a:t>
            </a:r>
            <a:r>
              <a:rPr dirty="0" err="1"/>
              <a:t>weghalen</a:t>
            </a:r>
            <a:r>
              <a:rPr dirty="0"/>
              <a:t> </a:t>
            </a:r>
            <a:r>
              <a:rPr dirty="0" err="1"/>
              <a:t>zónder</a:t>
            </a:r>
            <a:r>
              <a:rPr dirty="0"/>
              <a:t> de meting </a:t>
            </a:r>
            <a:r>
              <a:rPr dirty="0" err="1"/>
              <a:t>weg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gooien</a:t>
            </a: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Kribben</a:t>
            </a:r>
            <a:r>
              <a:rPr dirty="0"/>
              <a:t>, </a:t>
            </a:r>
            <a:r>
              <a:rPr dirty="0" err="1"/>
              <a:t>bruggen</a:t>
            </a:r>
            <a:r>
              <a:rPr dirty="0"/>
              <a:t>, </a:t>
            </a:r>
            <a:r>
              <a:rPr dirty="0" err="1"/>
              <a:t>nevengeulen</a:t>
            </a:r>
            <a:r>
              <a:rPr dirty="0"/>
              <a:t>, </a:t>
            </a:r>
            <a:r>
              <a:rPr dirty="0" err="1"/>
              <a:t>doolhoven</a:t>
            </a:r>
            <a:r>
              <a:rPr dirty="0"/>
              <a:t>, </a:t>
            </a:r>
            <a:r>
              <a:rPr dirty="0" err="1"/>
              <a:t>fragmenten</a:t>
            </a:r>
            <a:r>
              <a:rPr dirty="0"/>
              <a:t>, </a:t>
            </a:r>
            <a:r>
              <a:rPr dirty="0" err="1"/>
              <a:t>uitschieters</a:t>
            </a:r>
            <a:r>
              <a:rPr dirty="0"/>
              <a:t> in de </a:t>
            </a:r>
            <a:r>
              <a:rPr dirty="0" err="1"/>
              <a:t>tijd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 · Meerdere t-punten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Snelheid als trend over álle metingen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Versnelling, terugkeer naar gemiddelde, recente helling als 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 · Resolutie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Meerdere segmenten per vlak in plaats van één afstand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Gemeten én voorspelde oever als lijn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0">
                <a:solidFill>
                  <a:srgbClr val="1F3A3D"/>
                </a:solidFill>
              </a:defRPr>
            </a:pPr>
            <a:r>
              <a:rPr dirty="0" err="1"/>
              <a:t>Leeswijzer</a:t>
            </a:r>
            <a:r>
              <a:rPr dirty="0"/>
              <a:t>: op </a:t>
            </a:r>
            <a:r>
              <a:rPr dirty="0" err="1"/>
              <a:t>deze</a:t>
            </a:r>
            <a:r>
              <a:rPr dirty="0"/>
              <a:t> </a:t>
            </a:r>
            <a:r>
              <a:rPr dirty="0" err="1"/>
              <a:t>vaste</a:t>
            </a:r>
            <a:r>
              <a:rPr dirty="0"/>
              <a:t> </a:t>
            </a:r>
            <a:r>
              <a:rPr dirty="0" err="1"/>
              <a:t>testset</a:t>
            </a:r>
            <a:r>
              <a:rPr dirty="0"/>
              <a:t> </a:t>
            </a:r>
            <a:r>
              <a:rPr dirty="0" err="1"/>
              <a:t>scoort</a:t>
            </a:r>
            <a:r>
              <a:rPr dirty="0"/>
              <a:t> het model van 19 </a:t>
            </a:r>
            <a:r>
              <a:rPr dirty="0" err="1"/>
              <a:t>augustus</a:t>
            </a:r>
            <a:r>
              <a:rPr dirty="0"/>
              <a:t> 3.99 m/</a:t>
            </a:r>
            <a:r>
              <a:rPr dirty="0" err="1"/>
              <a:t>jr</a:t>
            </a:r>
            <a:r>
              <a:rPr dirty="0"/>
              <a:t> (4.12 op de eigen split van </a:t>
            </a:r>
            <a:r>
              <a:rPr dirty="0" err="1"/>
              <a:t>toen</a:t>
            </a:r>
            <a:r>
              <a:rPr dirty="0"/>
              <a:t>). Alle </a:t>
            </a:r>
            <a:r>
              <a:rPr dirty="0" err="1"/>
              <a:t>cijfers</a:t>
            </a:r>
            <a:r>
              <a:rPr dirty="0"/>
              <a:t> </a:t>
            </a:r>
            <a:r>
              <a:rPr dirty="0" err="1"/>
              <a:t>hierna</a:t>
            </a:r>
            <a:r>
              <a:rPr dirty="0"/>
              <a:t> </a:t>
            </a:r>
            <a:r>
              <a:rPr dirty="0" err="1"/>
              <a:t>zijn</a:t>
            </a:r>
            <a:r>
              <a:rPr dirty="0"/>
              <a:t> op </a:t>
            </a:r>
            <a:r>
              <a:rPr dirty="0" err="1"/>
              <a:t>deze</a:t>
            </a:r>
            <a:r>
              <a:rPr dirty="0"/>
              <a:t> set, </a:t>
            </a:r>
            <a:r>
              <a:rPr dirty="0" err="1"/>
              <a:t>zodat</a:t>
            </a:r>
            <a:r>
              <a:rPr dirty="0"/>
              <a:t> </a:t>
            </a:r>
            <a:r>
              <a:rPr dirty="0" err="1"/>
              <a:t>stappen</a:t>
            </a:r>
            <a:r>
              <a:rPr dirty="0"/>
              <a:t> </a:t>
            </a:r>
            <a:r>
              <a:rPr dirty="0" err="1"/>
              <a:t>optelbaar</a:t>
            </a:r>
            <a:r>
              <a:rPr dirty="0"/>
              <a:t> </a:t>
            </a:r>
            <a:r>
              <a:rPr dirty="0" err="1"/>
              <a:t>zijn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635058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rPr lang="en-US" dirty="0" err="1"/>
              <a:t>Verkennende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SAM </a:t>
            </a:r>
            <a:r>
              <a:rPr lang="en-US" dirty="0" err="1"/>
              <a:t>resultaten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Hybride levering: SAM + hoogtemodel · tot 11 meetmomenten · 1 jaar tussen t-punten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2733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5</a:t>
            </a:r>
            <a:endParaRPr dirty="0"/>
          </a:p>
        </p:txBody>
      </p:sp>
      <p:pic>
        <p:nvPicPr>
          <p:cNvPr id="5" name="Picture 4" descr="au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02" y="1426122"/>
            <a:ext cx="8845881" cy="4974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2BB5A6"/>
                </a:solidFill>
              </a:defRPr>
            </a:pPr>
            <a:r>
              <a:t>As 1 · Wat we in de SAM-lijnen tegenkomen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 i="0">
                <a:solidFill>
                  <a:srgbClr val="1F3A3D"/>
                </a:solidFill>
              </a:defRPr>
            </a:pPr>
            <a:r>
              <a:rPr lang="en-US" dirty="0" err="1"/>
              <a:t>Terugkerende</a:t>
            </a:r>
            <a:r>
              <a:rPr dirty="0"/>
              <a:t> </a:t>
            </a:r>
            <a:r>
              <a:rPr dirty="0" err="1"/>
              <a:t>patronen</a:t>
            </a:r>
            <a:r>
              <a:rPr dirty="0"/>
              <a:t> — elk </a:t>
            </a:r>
            <a:r>
              <a:rPr dirty="0" err="1"/>
              <a:t>een</a:t>
            </a:r>
            <a:r>
              <a:rPr dirty="0"/>
              <a:t> '</a:t>
            </a:r>
            <a:r>
              <a:rPr dirty="0" err="1"/>
              <a:t>oever</a:t>
            </a:r>
            <a:r>
              <a:rPr dirty="0"/>
              <a:t>' die </a:t>
            </a:r>
            <a:r>
              <a:rPr dirty="0" err="1"/>
              <a:t>geen</a:t>
            </a:r>
            <a:r>
              <a:rPr dirty="0"/>
              <a:t> </a:t>
            </a:r>
            <a:r>
              <a:rPr dirty="0" err="1"/>
              <a:t>oever</a:t>
            </a:r>
            <a:r>
              <a:rPr dirty="0"/>
              <a:t> 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20030" b="27893"/>
          <a:stretch>
            <a:fillRect/>
          </a:stretch>
        </p:blipFill>
        <p:spPr>
          <a:xfrm>
            <a:off x="289560" y="1993901"/>
            <a:ext cx="11612880" cy="3401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1F3A3D"/>
                </a:solidFill>
              </a:defRPr>
            </a:pPr>
            <a:r>
              <a:t>Daarnaast: nevengeulen en plassen (5.9 % van de metingen in 'normale' vlakken), fragmenten (&lt; 25 % van het vlak) en metingen die 15 m van de trend afwijken. Elk patroon = één opschoonregel; elke regel = een gok naar iets wat een mens zeker weet.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778"/>
                </a:solidFill>
              </a:defRPr>
            </a:pPr>
            <a:r>
              <a:t>Oevererosietool · update 26-08-2026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As 1 · Voorbeeld: wat een opschoonregel doet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Kribvak op de Nederrijn — zonder en met structurenmasker (kribben + kunstwerken, 10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7</a:t>
            </a:r>
          </a:p>
        </p:txBody>
      </p:sp>
      <p:pic>
        <p:nvPicPr>
          <p:cNvPr id="5" name="Picture 4" descr="nederrijn_r_4780_4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63840" cy="35664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B7778"/>
                </a:solidFill>
              </a:defRPr>
            </a:pPr>
            <a:r>
              <a:t>links: zonder masker · rechts: met kribben + bruggen/kades/steigers (10 m) · grijs = constructie · paars = VVR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t>• Zonder masker volgt de 'oever' de kribflank: het ene getal per jaar (gestippeld) springt heen en weer — +7.7 m/jr</a:t>
            </a:r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t>• Met masker vallen de kribpunten weg en blijft de echte oever over: −22.2 m/jr, consistent over de jaren</a:t>
            </a:r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t>• Zo werkt elke regel: niet de meting weggooien, maar het deel dat geen oever is</a:t>
            </a:r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t>• Deze week: kribben landelijk (1 922 → 4 698) en 6 386 kunstwerken als laag — geen gok meer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2BB5A6"/>
                </a:solidFill>
              </a:defRPr>
            </a:pPr>
            <a:r>
              <a:t>As 1 · Hoeveel vlakken raakt elke regel?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 i="0">
                <a:solidFill>
                  <a:srgbClr val="1F3A3D"/>
                </a:solidFill>
              </a:defRPr>
            </a:pPr>
            <a:r>
              <a:t>Elke regel apart op de basisdata · een vlak kan in meerdere balken staan</a:t>
            </a:r>
          </a:p>
        </p:txBody>
      </p:sp>
      <p:pic>
        <p:nvPicPr>
          <p:cNvPr id="4" name="Picture 3" descr="rule_tou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19" y="1508760"/>
            <a:ext cx="7863840" cy="34314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3A3D"/>
                </a:solidFill>
              </a:defRPr>
            </a:pPr>
            <a:r>
              <a:t>• 5 165 van de 11 517 vlakken worden door ≥ 1 regel geraakt; 284 verdwijnen helemaal</a:t>
            </a:r>
          </a:p>
          <a:p>
            <a:pPr>
              <a:spcAft>
                <a:spcPts val="500"/>
              </a:spcAft>
              <a:defRPr sz="1300">
                <a:solidFill>
                  <a:srgbClr val="1F3A3D"/>
                </a:solidFill>
              </a:defRPr>
            </a:pPr>
            <a:r>
              <a:t>• Kronkelende lijnen, doolhoven en uitschieters in de tijd zijn púúr SAM-verschijnselen</a:t>
            </a:r>
          </a:p>
          <a:p>
            <a:pPr>
              <a:spcAft>
                <a:spcPts val="500"/>
              </a:spcAft>
              <a:defRPr sz="1300">
                <a:solidFill>
                  <a:srgbClr val="1F3A3D"/>
                </a:solidFill>
              </a:defRPr>
            </a:pPr>
            <a:r>
              <a:t>• Hoogtemodel-vlakken worden vrijwel alleen door het kribbenmasker en fragmenten geraakt (429 van 2 033)</a:t>
            </a:r>
          </a:p>
          <a:p>
            <a:pPr>
              <a:spcAft>
                <a:spcPts val="500"/>
              </a:spcAft>
              <a:defRPr sz="1300">
                <a:solidFill>
                  <a:srgbClr val="1F3A3D"/>
                </a:solidFill>
              </a:defRPr>
            </a:pPr>
            <a:r>
              <a:t>• 'Te weinig punten' raakt op zichzelf niets — het bijt pas nadat andere regels een meting uitdunnen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778"/>
                </a:solidFill>
              </a:defRPr>
            </a:pPr>
            <a:r>
              <a:t>Oevererosietool · update 26-08-2026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2BB5A6"/>
                </a:solidFill>
              </a:defRPr>
            </a:pPr>
            <a:r>
              <a:t>As 1 · Wat doet elke regel alleen — en alles samen: 3.99 → 2.27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 i="0">
                <a:solidFill>
                  <a:srgbClr val="1F3A3D"/>
                </a:solidFill>
              </a:defRPr>
            </a:pPr>
            <a:r>
              <a:t>Elke regel apart op het 19 aug-model · vaste testset · resolutie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F3A3D"/>
                </a:solidFill>
              </a:defRPr>
            </a:pPr>
            <a:r>
              <a:t>• Grootste winst: uitschieter in de tijd (3.99 → 3.03) — één afwijkende meting vervuilde het hele vlak</a:t>
            </a:r>
          </a:p>
          <a:p>
            <a:pPr>
              <a:spcAft>
                <a:spcPts val="500"/>
              </a:spcAft>
              <a:defRPr sz="1200" b="0">
                <a:solidFill>
                  <a:srgbClr val="1F3A3D"/>
                </a:solidFill>
              </a:defRPr>
            </a:pPr>
            <a:r>
              <a:t>• Doolhof, fragment, kronkelende lijn: elk ≈ −0.3 tot −0.4</a:t>
            </a:r>
          </a:p>
          <a:p>
            <a:pPr>
              <a:spcAft>
                <a:spcPts val="500"/>
              </a:spcAft>
              <a:defRPr sz="1200" b="0">
                <a:solidFill>
                  <a:srgbClr val="1F3A3D"/>
                </a:solidFill>
              </a:defRPr>
            </a:pPr>
            <a:r>
              <a:t>• Kribben &amp; kunstwerken landelijk: 3.89 / 8.52 — geen foutwinst, wél 10 % minder vlakken: het masker haalt alleen de lijnen het dichtst bij de hartlijn weg, en rond kribben blijft geen vlak over om te voorspellen</a:t>
            </a:r>
          </a:p>
          <a:p>
            <a:pPr>
              <a:spcAft>
                <a:spcPts val="500"/>
              </a:spcAft>
              <a:defRPr sz="1200" b="0">
                <a:solidFill>
                  <a:srgbClr val="1F3A3D"/>
                </a:solidFill>
              </a:defRPr>
            </a:pPr>
            <a:r>
              <a:t>• Samen: 2.27 / 4.54 bij dekking 0.94 — meer dan de som van de delen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778"/>
                </a:solidFill>
              </a:defRPr>
            </a:pPr>
            <a:r>
              <a:t>Oevererosietool · update 26-08-2026 ·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7778"/>
                </a:solidFill>
              </a:defRPr>
            </a:pPr>
            <a:r>
              <a:t>Leeswijzer: 4.12 was de score van het 19 aug-model op zijn eigen willekeurige splitsing; op de bevroren testset van 1 174 vlakken scoort datzelfde model 3.99. Alle stappen in As 1–3 zijn op deze vaste set gemeten.</a:t>
            </a:r>
          </a:p>
        </p:txBody>
      </p:sp>
      <p:pic>
        <p:nvPicPr>
          <p:cNvPr id="9" name="Picture 8" descr="rul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381568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As 2 · Meerdere t-punten: als feature én als meetlat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2a · de hele meetreeks als feature: 2.27 → 2.13   ·   2b · paren ≥ 2 jaar als meetlat: 1.37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F3A3D"/>
                </a:solidFill>
              </a:defRPr>
            </a:pPr>
            <a:r>
              <a:t>2a · Features uit de hele meetreeks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Trend (Theil–Sen), spreiding om de trend, versnelling, terugkeer naar gemiddelde, recente helling — zelfde doel, zelfde split: 2.27 → 2.13</a:t>
            </a:r>
          </a:p>
          <a:p>
            <a:pPr>
              <a:spcAft>
                <a:spcPts val="400"/>
              </a:spcAft>
              <a:defRPr sz="1200" b="1">
                <a:solidFill>
                  <a:srgbClr val="1F3A3D"/>
                </a:solidFill>
              </a:defRPr>
            </a:pPr>
            <a:r>
              <a:t>2b · Paren ≥ 2 jaar als meetlat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Hoogtemodel-opnames liggen 3–5 jaar uit elkaar; SAM 1 jaar → dezelfde meetruis ÷ 1 jaar = ruis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Zelfde doel (m/jr), alleen paren ≥ 2 jaar, álle paren: 1 vlak met 6 metingen = 10 leervoorbeelden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Eerlijk: de naïeve fout zakt mee (2.67 → 1.77); de skill gaat van +20 % naar +23 %. Dit is 'meten wat we kunnen voorspellen', geen 35 % beter model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Nog niet overal: 715 van 1 174 testvlakken hebben zo'n paar — groeit met elk SAM-jaar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Wat niet werkte: losse jaar-op-jaar stappen als doel, huber-loss, debiet</a:t>
            </a:r>
          </a:p>
        </p:txBody>
      </p:sp>
      <p:pic>
        <p:nvPicPr>
          <p:cNvPr id="7" name="Picture 6" descr="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2952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As 3 · Resolutie: van scalar naar oeverlijn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Eén afstand per vlak verbergt dat 20 m hard erodeert en 80 m stil ligt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11</a:t>
            </a:r>
          </a:p>
        </p:txBody>
      </p:sp>
      <p:pic>
        <p:nvPicPr>
          <p:cNvPr id="5" name="Picture 4" descr="maas3_r_8930_89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699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5544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3A3D"/>
                </a:solidFill>
              </a:defRPr>
            </a:pPr>
            <a:r>
              <a:t>Wat je ziet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groen = gemeten oever per segment (2026) · bruin = voorspeld 2027 per segment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gestippeld = de oude voorspelling: één getal voor het hele vlak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paars = VVR / signaleringslijn</a:t>
            </a:r>
          </a:p>
          <a:p>
            <a:pPr>
              <a:spcAft>
                <a:spcPts val="400"/>
              </a:spcAft>
              <a:defRPr sz="1300" b="1">
                <a:solidFill>
                  <a:srgbClr val="1F3A3D"/>
                </a:solidFill>
              </a:defRPr>
            </a:pPr>
            <a:r>
              <a:t>Dit vlak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Eén getal zegt −9.7 m/jr; de vijf segmenten lopen van −17.1 tot +1.4 (voorbeeld op R = 5; gekozen resolutie R = 20)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Het bovenste segment nadert de VVR; de rest niet — het alarm hoort per segment te kijken</a:t>
            </a:r>
          </a:p>
          <a:p>
            <a:pPr>
              <a:spcAft>
                <a:spcPts val="400"/>
              </a:spcAft>
              <a:defRPr sz="1300" b="1">
                <a:solidFill>
                  <a:srgbClr val="1F3A3D"/>
                </a:solidFill>
              </a:defRPr>
            </a:pPr>
            <a:r>
              <a:t>Vandaag</a:t>
            </a:r>
          </a:p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t>• VVR-jaar = één drempel per vlak (het verst gelegen punt van de signaleringslijn) tegen één scalar → per definitie laat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As 3 · Hoe fijn kan het?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Zelfde vlak, R = 1 … 100 · en de fout per segment op de As 2-meetlat (paren ≥ 2 jaar), per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12</a:t>
            </a:r>
          </a:p>
        </p:txBody>
      </p:sp>
      <p:pic>
        <p:nvPicPr>
          <p:cNvPr id="5" name="Picture 4" descr="maas3_r_8930_8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760720" cy="3280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De segment-representatie (bruin) volgt de gemeten oever vanaf R ≈ 5–10; bij R = 50–100 raken segmenten leeg (rood)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Fout per segment daalt van 1.37 (R = 1) naar 0.85 (R = 20); skill t.o.v. naïef stijgt van +23 % naar +29–30 % — hoe fijner, hoe beter</a:t>
            </a:r>
          </a:p>
          <a:p>
            <a:pPr>
              <a:spcAft>
                <a:spcPts val="400"/>
              </a:spcAft>
              <a:defRPr sz="1200" b="0">
                <a:solidFill>
                  <a:srgbClr val="1F3A3D"/>
                </a:solidFill>
              </a:defRPr>
            </a:pPr>
            <a:r>
              <a:t>• Keuze: R = 20 (≈ 5 m). Prijs: 31 % van de segment-datums heeft nog geen meting — dat lossen we op in de lijnbemonstering (60 → meer punten per lijn), niet in het model</a:t>
            </a:r>
          </a:p>
          <a:p>
            <a:pPr>
              <a:spcAft>
                <a:spcPts val="300"/>
              </a:spcAft>
              <a:defRPr sz="1200" b="0">
                <a:solidFill>
                  <a:srgbClr val="1F3A3D"/>
                </a:solidFill>
              </a:defRPr>
            </a:pPr>
            <a:endParaRPr/>
          </a:p>
        </p:txBody>
      </p:sp>
      <p:pic>
        <p:nvPicPr>
          <p:cNvPr id="8" name="Picture 7" descr="horizon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5577840" cy="24339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Alles bij elkaar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Stap voor stap, op één vaste testset — waar zit de winst?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3A3D"/>
                </a:solidFill>
              </a:defRPr>
            </a:pPr>
            <a:r>
              <a:t>• Opschonen: −1.72 m/jr (−43 %) · structurenlaag: ±0 (juistheid/dekking) · historie-features: −0.14 · paren ≥ 2 jaar: andere meetlat, skill +20 → +23 % · segmenten R = 20: skill +29 %, positiefout 0.85 m</a:t>
            </a:r>
          </a:p>
          <a:p>
            <a:pPr>
              <a:spcAft>
                <a:spcPts val="400"/>
              </a:spcAft>
              <a:defRPr sz="1400" b="1">
                <a:solidFill>
                  <a:srgbClr val="1F3A3D"/>
                </a:solidFill>
              </a:defRPr>
            </a:pPr>
            <a:r>
              <a:t>Het model was nooit de bottleneck — de labels waren het. De regels raken op: wat overblijft, kan alleen een mens zien.</a:t>
            </a:r>
          </a:p>
        </p:txBody>
      </p:sp>
      <p:pic>
        <p:nvPicPr>
          <p:cNvPr id="7" name="Picture 6" descr="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106424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Waar we nu staan — alle condities naast elkaar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 i="0">
                <a:solidFill>
                  <a:srgbClr val="1F3A3D"/>
                </a:solidFill>
              </a:defRPr>
            </a:pPr>
            <a:r>
              <a:t>Zelfde opzet als slide 3 · de laatste kolom is de te-doen-stap: alles opnieuw op een willekeurige splitsing, testset buiten de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217059"/>
              </p:ext>
            </p:extLst>
          </p:nvPr>
        </p:nvGraphicFramePr>
        <p:xfrm>
          <a:off x="548640" y="16002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maart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2026</a:t>
                      </a:r>
                    </a:p>
                    <a:p>
                      <a:r>
                        <a:rPr dirty="0" err="1">
                          <a:solidFill>
                            <a:schemeClr val="tx1"/>
                          </a:solidFill>
                        </a:rPr>
                        <a:t>alleen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hoogtemodel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19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augustus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dirty="0" err="1">
                          <a:solidFill>
                            <a:schemeClr val="tx1"/>
                          </a:solidFill>
                        </a:rPr>
                        <a:t>hybride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, eigen split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nu</a:t>
                      </a:r>
                    </a:p>
                    <a:p>
                      <a:r>
                        <a:rPr dirty="0" err="1">
                          <a:solidFill>
                            <a:schemeClr val="tx1"/>
                          </a:solidFill>
                        </a:rPr>
                        <a:t>vaste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testset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· R = 20 ·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paren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≥ 2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jr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</a:rPr>
                        <a:t>te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doen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dirty="0" err="1">
                          <a:solidFill>
                            <a:schemeClr val="tx1"/>
                          </a:solidFill>
                        </a:rPr>
                        <a:t>willekeurige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split, </a:t>
                      </a:r>
                      <a:r>
                        <a:rPr dirty="0" err="1">
                          <a:solidFill>
                            <a:schemeClr val="tx1"/>
                          </a:solidFill>
                        </a:rPr>
                        <a:t>eerlijk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Baseline (naïef gemiddelde) — fout test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LightGBM — fout test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LightGBM t.o.v. baseline (skill)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−20 %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+14 %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+29 %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LightGBM — fout risicogevallen &gt; 2 m/jr (m/jr)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4.61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9.13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2.89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Eenheid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vlak (≈ 100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vlak (≈ 100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segment (≈ 5 m)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segment (≈ 5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Tijd tussen t-punten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3–4 jaar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1 jaar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≥ 2 </a:t>
                      </a:r>
                      <a:r>
                        <a:rPr dirty="0" err="1"/>
                        <a:t>jaar</a:t>
                      </a:r>
                      <a:r>
                        <a:rPr dirty="0"/>
                        <a:t> (alle </a:t>
                      </a:r>
                      <a:r>
                        <a:rPr dirty="0" err="1"/>
                        <a:t>paren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≥ 2 jaar (alle paren)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Testset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willekeurig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willekeurig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vast · 715 </a:t>
                      </a:r>
                      <a:r>
                        <a:rPr dirty="0" err="1"/>
                        <a:t>vlakken</a:t>
                      </a:r>
                      <a:r>
                        <a:rPr dirty="0"/>
                        <a:t> · 8 578 </a:t>
                      </a:r>
                      <a:r>
                        <a:rPr dirty="0" err="1"/>
                        <a:t>segmenten</a:t>
                      </a:r>
                      <a:endParaRPr dirty="0"/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/>
                        <a:t>willekeurig</a:t>
                      </a:r>
                      <a:r>
                        <a:rPr dirty="0"/>
                        <a:t>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Validatie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test-set 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test-set 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test-set early stopping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rPr lang="en-US" dirty="0"/>
                        <a:t>t</a:t>
                      </a:r>
                      <a:r>
                        <a:rPr dirty="0"/>
                        <a:t>est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set </a:t>
                      </a:r>
                      <a:r>
                        <a:rPr dirty="0" err="1"/>
                        <a:t>buiten</a:t>
                      </a:r>
                      <a:r>
                        <a:rPr dirty="0"/>
                        <a:t> de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70321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update 26-08-2026 ·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2BB5A6"/>
                </a:solidFill>
              </a:defRPr>
            </a:pPr>
            <a:r>
              <a:t>Samenvattend — en waar we jullie input op willen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700" b="0" i="0">
                <a:solidFill>
                  <a:srgbClr val="1F3A3D"/>
                </a:solidFill>
              </a:defRPr>
            </a:pPr>
            <a:r>
              <a:rPr dirty="0" err="1"/>
              <a:t>Opschonen</a:t>
            </a:r>
            <a:r>
              <a:rPr dirty="0"/>
              <a:t> </a:t>
            </a:r>
            <a:r>
              <a:rPr dirty="0" err="1"/>
              <a:t>leverde</a:t>
            </a:r>
            <a:r>
              <a:rPr dirty="0"/>
              <a:t> </a:t>
            </a:r>
            <a:r>
              <a:rPr lang="en-US" dirty="0"/>
              <a:t>de </a:t>
            </a:r>
            <a:r>
              <a:rPr dirty="0" err="1"/>
              <a:t>meest</a:t>
            </a:r>
            <a:r>
              <a:rPr lang="en-US" dirty="0" err="1"/>
              <a:t>e</a:t>
            </a:r>
            <a:r>
              <a:rPr lang="en-US" dirty="0"/>
              <a:t> </a:t>
            </a:r>
            <a:r>
              <a:rPr lang="en-US" dirty="0" err="1"/>
              <a:t>winst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700" b="0" i="0">
                <a:solidFill>
                  <a:srgbClr val="1F3A3D"/>
                </a:solidFill>
              </a:defRPr>
            </a:pPr>
            <a:r>
              <a:rPr lang="en-US" dirty="0"/>
              <a:t>V</a:t>
            </a:r>
            <a:r>
              <a:rPr dirty="0"/>
              <a:t>an </a:t>
            </a:r>
            <a:r>
              <a:rPr dirty="0" err="1"/>
              <a:t>lijn</a:t>
            </a:r>
            <a:r>
              <a:rPr dirty="0"/>
              <a:t> </a:t>
            </a:r>
            <a:r>
              <a:rPr dirty="0" err="1"/>
              <a:t>naar</a:t>
            </a:r>
            <a:r>
              <a:rPr dirty="0"/>
              <a:t> </a:t>
            </a:r>
            <a:r>
              <a:rPr dirty="0" err="1"/>
              <a:t>oever</a:t>
            </a:r>
            <a:r>
              <a:rPr lang="en-US" dirty="0"/>
              <a:t> </a:t>
            </a:r>
            <a:r>
              <a:rPr lang="en-US" dirty="0" err="1"/>
              <a:t>gegaan</a:t>
            </a:r>
            <a:r>
              <a:rPr lang="en-US" dirty="0"/>
              <a:t> (</a:t>
            </a:r>
            <a:r>
              <a:rPr lang="en-US" dirty="0" err="1"/>
              <a:t>resolutie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0" i="0">
                <a:solidFill>
                  <a:srgbClr val="1F3A3D"/>
                </a:solidFill>
              </a:defRPr>
            </a:pPr>
            <a:r>
              <a:rPr lang="en-US" dirty="0"/>
              <a:t>Hoe </a:t>
            </a:r>
            <a:r>
              <a:rPr lang="en-US" dirty="0" err="1"/>
              <a:t>schonen</a:t>
            </a:r>
            <a:r>
              <a:rPr lang="en-US" dirty="0"/>
              <a:t> we de data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verder</a:t>
            </a:r>
            <a:r>
              <a:rPr lang="en-US" dirty="0"/>
              <a:t> op?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48640" y="2277292"/>
            <a:ext cx="3566160" cy="54864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Feedback </a:t>
            </a:r>
            <a:r>
              <a:rPr lang="en-US" dirty="0" err="1"/>
              <a:t>nodig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3008812"/>
            <a:ext cx="356616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dirty="0"/>
              <a:t>• Welke </a:t>
            </a:r>
            <a:r>
              <a:rPr dirty="0" err="1"/>
              <a:t>bewerking</a:t>
            </a:r>
            <a:r>
              <a:rPr dirty="0"/>
              <a:t> </a:t>
            </a:r>
            <a:r>
              <a:rPr dirty="0" err="1"/>
              <a:t>heeft</a:t>
            </a:r>
            <a:r>
              <a:rPr dirty="0"/>
              <a:t> de SAM-data </a:t>
            </a:r>
            <a:r>
              <a:rPr dirty="0" err="1"/>
              <a:t>nog</a:t>
            </a:r>
            <a:r>
              <a:rPr dirty="0"/>
              <a:t> </a:t>
            </a:r>
            <a:r>
              <a:rPr dirty="0" err="1"/>
              <a:t>nodig</a:t>
            </a:r>
            <a:r>
              <a:rPr dirty="0"/>
              <a:t>?</a:t>
            </a:r>
            <a:r>
              <a:rPr lang="en-US" dirty="0"/>
              <a:t>  Wat </a:t>
            </a:r>
            <a:r>
              <a:rPr lang="en-US" dirty="0" err="1"/>
              <a:t>missen</a:t>
            </a:r>
            <a:r>
              <a:rPr lang="en-US" dirty="0"/>
              <a:t> we in de </a:t>
            </a:r>
            <a:r>
              <a:rPr lang="en-US" dirty="0" err="1"/>
              <a:t>meegenomen</a:t>
            </a:r>
            <a:r>
              <a:rPr lang="en-US" dirty="0"/>
              <a:t> </a:t>
            </a:r>
            <a:r>
              <a:rPr lang="en-US" dirty="0" err="1"/>
              <a:t>patronen</a:t>
            </a:r>
            <a:r>
              <a:rPr lang="en-US" dirty="0"/>
              <a:t>?</a:t>
            </a:r>
          </a:p>
          <a:p>
            <a:pPr lvl="1"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lang="en-US" dirty="0"/>
              <a:t>• Kan </a:t>
            </a:r>
            <a:r>
              <a:rPr lang="en-US" dirty="0" err="1"/>
              <a:t>lijst</a:t>
            </a:r>
            <a:r>
              <a:rPr lang="en-US" dirty="0"/>
              <a:t>/</a:t>
            </a:r>
            <a:r>
              <a:rPr lang="en-US" dirty="0" err="1"/>
              <a:t>geopackage</a:t>
            </a:r>
            <a:r>
              <a:rPr lang="en-US" dirty="0"/>
              <a:t> </a:t>
            </a:r>
            <a:r>
              <a:rPr lang="en-US" dirty="0" err="1"/>
              <a:t>delen</a:t>
            </a:r>
            <a:r>
              <a:rPr lang="en-US" dirty="0"/>
              <a:t> met </a:t>
            </a:r>
            <a:r>
              <a:rPr lang="en-US" dirty="0" err="1"/>
              <a:t>voor</a:t>
            </a:r>
            <a:r>
              <a:rPr lang="en-US" dirty="0"/>
              <a:t>-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- </a:t>
            </a:r>
            <a:r>
              <a:rPr lang="en-US" dirty="0" err="1"/>
              <a:t>opschoning</a:t>
            </a:r>
            <a:r>
              <a:rPr lang="en-US" dirty="0"/>
              <a:t> </a:t>
            </a:r>
            <a:r>
              <a:rPr lang="en-US" dirty="0" err="1"/>
              <a:t>effecten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lang="en-US" dirty="0"/>
              <a:t>• Is het </a:t>
            </a:r>
            <a:r>
              <a:rPr lang="en-US" dirty="0" err="1"/>
              <a:t>wellicht</a:t>
            </a:r>
            <a:r>
              <a:rPr lang="en-US" dirty="0"/>
              <a:t> </a:t>
            </a:r>
            <a:r>
              <a:rPr lang="en-US" dirty="0" err="1"/>
              <a:t>handig</a:t>
            </a:r>
            <a:r>
              <a:rPr lang="en-US" dirty="0"/>
              <a:t> om </a:t>
            </a:r>
            <a:r>
              <a:rPr lang="en-US" dirty="0" err="1"/>
              <a:t>hoogtemodel</a:t>
            </a:r>
            <a:r>
              <a:rPr lang="en-US" dirty="0"/>
              <a:t> data op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schonen</a:t>
            </a:r>
            <a:br>
              <a:rPr lang="en-US" dirty="0"/>
            </a:br>
            <a:r>
              <a:rPr lang="en-US" dirty="0"/>
              <a:t>• Welke parameters </a:t>
            </a:r>
            <a:r>
              <a:rPr lang="en-US" dirty="0" err="1"/>
              <a:t>bepalen</a:t>
            </a:r>
            <a:r>
              <a:rPr lang="en-US" dirty="0"/>
              <a:t> de output van het </a:t>
            </a:r>
            <a:r>
              <a:rPr lang="en-US" dirty="0" err="1"/>
              <a:t>hybride</a:t>
            </a:r>
            <a:r>
              <a:rPr lang="en-US" dirty="0"/>
              <a:t> model? </a:t>
            </a:r>
            <a:r>
              <a:rPr lang="en-US" dirty="0" err="1"/>
              <a:t>Mogelijk</a:t>
            </a:r>
            <a:r>
              <a:rPr lang="en-US" dirty="0"/>
              <a:t> om diverse output </a:t>
            </a:r>
            <a:r>
              <a:rPr lang="en-US" dirty="0" err="1"/>
              <a:t>variaties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testen</a:t>
            </a:r>
            <a:r>
              <a:rPr lang="en-US" dirty="0"/>
              <a:t> in het </a:t>
            </a:r>
            <a:r>
              <a:rPr lang="en-US" dirty="0" err="1"/>
              <a:t>voorspellende</a:t>
            </a:r>
            <a:r>
              <a:rPr lang="en-US" dirty="0"/>
              <a:t>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77292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/>
              <a:t>To do van </a:t>
            </a:r>
            <a:r>
              <a:rPr lang="en-US" dirty="0" err="1"/>
              <a:t>mijn</a:t>
            </a:r>
            <a:r>
              <a:rPr lang="en-US" dirty="0"/>
              <a:t> </a:t>
            </a:r>
            <a:r>
              <a:rPr lang="en-US" dirty="0" err="1"/>
              <a:t>kant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389120" y="3008812"/>
            <a:ext cx="356616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Eindrun</a:t>
            </a:r>
            <a:r>
              <a:rPr dirty="0"/>
              <a:t> op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willekeurige</a:t>
            </a:r>
            <a:r>
              <a:rPr dirty="0"/>
              <a:t> </a:t>
            </a:r>
            <a:r>
              <a:rPr dirty="0" err="1"/>
              <a:t>splitsing</a:t>
            </a:r>
            <a:r>
              <a:rPr dirty="0"/>
              <a:t>, </a:t>
            </a:r>
            <a:r>
              <a:rPr dirty="0" err="1"/>
              <a:t>testset</a:t>
            </a:r>
            <a:r>
              <a:rPr dirty="0"/>
              <a:t> </a:t>
            </a:r>
            <a:r>
              <a:rPr dirty="0" err="1"/>
              <a:t>buiten</a:t>
            </a:r>
            <a:r>
              <a:rPr dirty="0"/>
              <a:t> de training, R = 20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Methodologie</a:t>
            </a:r>
            <a:r>
              <a:rPr lang="en-US" dirty="0"/>
              <a:t> SAM/</a:t>
            </a:r>
            <a:r>
              <a:rPr lang="en-US" dirty="0" err="1"/>
              <a:t>hoogtemodel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hybride</a:t>
            </a:r>
            <a:r>
              <a:rPr lang="en-US" dirty="0"/>
              <a:t> </a:t>
            </a:r>
            <a:r>
              <a:rPr lang="en-US" dirty="0" err="1"/>
              <a:t>beslissingsmodel</a:t>
            </a:r>
            <a:r>
              <a:rPr lang="en-US" dirty="0"/>
              <a:t> </a:t>
            </a:r>
            <a:r>
              <a:rPr lang="en-US" dirty="0" err="1"/>
              <a:t>snappen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lang="en-US" dirty="0" err="1"/>
              <a:t>Vlakken</a:t>
            </a:r>
            <a:r>
              <a:rPr lang="en-US" dirty="0"/>
              <a:t> </a:t>
            </a:r>
            <a:r>
              <a:rPr lang="en-US" dirty="0" err="1"/>
              <a:t>onderzoeken</a:t>
            </a:r>
            <a:r>
              <a:rPr lang="en-US" dirty="0"/>
              <a:t> </a:t>
            </a:r>
            <a:r>
              <a:rPr dirty="0"/>
              <a:t>met de </a:t>
            </a:r>
            <a:r>
              <a:rPr dirty="0" err="1"/>
              <a:t>grootste</a:t>
            </a:r>
            <a:r>
              <a:rPr dirty="0"/>
              <a:t> </a:t>
            </a:r>
            <a:r>
              <a:rPr dirty="0" err="1"/>
              <a:t>bijdrage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de </a:t>
            </a:r>
            <a:r>
              <a:rPr dirty="0" err="1"/>
              <a:t>fout</a:t>
            </a:r>
            <a:r>
              <a:rPr dirty="0"/>
              <a:t> </a:t>
            </a:r>
            <a:r>
              <a:rPr dirty="0" err="1"/>
              <a:t>én</a:t>
            </a:r>
            <a:r>
              <a:rPr dirty="0"/>
              <a:t>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dirty="0"/>
              <a:t>de </a:t>
            </a:r>
            <a:r>
              <a:rPr dirty="0" err="1"/>
              <a:t>minst</a:t>
            </a:r>
            <a:r>
              <a:rPr dirty="0"/>
              <a:t> </a:t>
            </a:r>
            <a:r>
              <a:rPr dirty="0" err="1"/>
              <a:t>voorspelbare</a:t>
            </a:r>
            <a:endParaRPr lang="en-US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1F3A3D"/>
                </a:solidFill>
              </a:defRPr>
            </a:pPr>
            <a:r>
              <a:rPr lang="en-US" dirty="0"/>
              <a:t>Zal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lijstje</a:t>
            </a:r>
            <a:r>
              <a:rPr lang="en-US" dirty="0"/>
              <a:t> van </a:t>
            </a:r>
            <a:r>
              <a:rPr lang="en-US" dirty="0" err="1"/>
              <a:t>maken</a:t>
            </a:r>
            <a:r>
              <a:rPr lang="en-US" dirty="0"/>
              <a:t> wat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delen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lang="en-US" dirty="0" err="1"/>
              <a:t>Lijnformatie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hogere</a:t>
            </a:r>
            <a:r>
              <a:rPr lang="en-US" dirty="0"/>
              <a:t> </a:t>
            </a:r>
            <a:r>
              <a:rPr lang="en-US" dirty="0" err="1"/>
              <a:t>resolutie</a:t>
            </a:r>
            <a:r>
              <a:rPr dirty="0"/>
              <a:t> </a:t>
            </a:r>
            <a:r>
              <a:rPr dirty="0" err="1"/>
              <a:t>ver</a:t>
            </a:r>
            <a:r>
              <a:rPr lang="en-US" dirty="0" err="1"/>
              <a:t>beteren</a:t>
            </a:r>
            <a:r>
              <a:rPr dirty="0"/>
              <a:t> </a:t>
            </a:r>
            <a:r>
              <a:rPr dirty="0" err="1"/>
              <a:t>zodat</a:t>
            </a:r>
            <a:r>
              <a:rPr dirty="0"/>
              <a:t> </a:t>
            </a:r>
            <a:r>
              <a:rPr dirty="0" err="1"/>
              <a:t>segmenten</a:t>
            </a:r>
            <a:r>
              <a:rPr dirty="0"/>
              <a:t> </a:t>
            </a:r>
            <a:r>
              <a:rPr dirty="0" err="1"/>
              <a:t>zonder</a:t>
            </a:r>
            <a:r>
              <a:rPr dirty="0"/>
              <a:t> meting </a:t>
            </a:r>
            <a:r>
              <a:rPr dirty="0" err="1"/>
              <a:t>verdwijnen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8229600" y="2277292"/>
            <a:ext cx="3566160" cy="548640"/>
          </a:xfrm>
          <a:prstGeom prst="rect">
            <a:avLst/>
          </a:prstGeom>
          <a:solidFill>
            <a:srgbClr val="1F3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/>
              <a:t>Done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3008812"/>
            <a:ext cx="3566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dirty="0"/>
              <a:t>• Model </a:t>
            </a:r>
            <a:r>
              <a:rPr dirty="0" err="1"/>
              <a:t>klaar</a:t>
            </a:r>
            <a:r>
              <a:rPr dirty="0"/>
              <a:t>, alle </a:t>
            </a:r>
            <a:r>
              <a:rPr dirty="0" err="1"/>
              <a:t>stappen</a:t>
            </a:r>
            <a:r>
              <a:rPr dirty="0"/>
              <a:t> op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vaste</a:t>
            </a:r>
            <a:r>
              <a:rPr dirty="0"/>
              <a:t> </a:t>
            </a:r>
            <a:r>
              <a:rPr dirty="0" err="1"/>
              <a:t>testset</a:t>
            </a:r>
            <a:r>
              <a:rPr dirty="0"/>
              <a:t>: 3.99 → 2.27 (</a:t>
            </a:r>
            <a:r>
              <a:rPr dirty="0" err="1"/>
              <a:t>opschonen</a:t>
            </a:r>
            <a:r>
              <a:rPr dirty="0"/>
              <a:t>) → 2.13 (</a:t>
            </a:r>
            <a:r>
              <a:rPr dirty="0" err="1"/>
              <a:t>historie</a:t>
            </a:r>
            <a:r>
              <a:rPr dirty="0"/>
              <a:t>) → 1.37 (</a:t>
            </a:r>
            <a:r>
              <a:rPr dirty="0" err="1"/>
              <a:t>paren</a:t>
            </a:r>
            <a:r>
              <a:rPr dirty="0"/>
              <a:t> ≥ 2 </a:t>
            </a:r>
            <a:r>
              <a:rPr dirty="0" err="1"/>
              <a:t>jr</a:t>
            </a:r>
            <a:r>
              <a:rPr dirty="0"/>
              <a:t>) → 0.85 (R = 20)</a:t>
            </a:r>
          </a:p>
          <a:p>
            <a:pPr>
              <a:spcAft>
                <a:spcPts val="600"/>
              </a:spcAft>
              <a:defRPr sz="130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Kribben</a:t>
            </a:r>
            <a:r>
              <a:rPr dirty="0"/>
              <a:t> + </a:t>
            </a:r>
            <a:r>
              <a:rPr dirty="0" err="1"/>
              <a:t>kunstwerken</a:t>
            </a:r>
            <a:r>
              <a:rPr dirty="0"/>
              <a:t> </a:t>
            </a:r>
            <a:r>
              <a:rPr dirty="0" err="1"/>
              <a:t>landelijk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laag</a:t>
            </a:r>
            <a:r>
              <a:rPr dirty="0"/>
              <a:t>; </a:t>
            </a:r>
            <a:r>
              <a:rPr dirty="0" err="1"/>
              <a:t>structurenmasker</a:t>
            </a:r>
            <a:r>
              <a:rPr dirty="0"/>
              <a:t> = </a:t>
            </a:r>
            <a:r>
              <a:rPr dirty="0" err="1"/>
              <a:t>juistheid</a:t>
            </a:r>
            <a:r>
              <a:rPr dirty="0"/>
              <a:t>, </a:t>
            </a:r>
            <a:r>
              <a:rPr dirty="0" err="1"/>
              <a:t>geen</a:t>
            </a:r>
            <a:r>
              <a:rPr dirty="0"/>
              <a:t> </a:t>
            </a:r>
            <a:r>
              <a:rPr dirty="0" err="1"/>
              <a:t>foutwinst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1983</Words>
  <Application>Microsoft Macintosh PowerPoint</Application>
  <PresentationFormat>Widescreen</PresentationFormat>
  <Paragraphs>199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Bakker</cp:lastModifiedBy>
  <cp:revision>9</cp:revision>
  <dcterms:created xsi:type="dcterms:W3CDTF">2013-01-27T09:14:16Z</dcterms:created>
  <dcterms:modified xsi:type="dcterms:W3CDTF">2026-09-02T13:49:37Z</dcterms:modified>
  <cp:category/>
</cp:coreProperties>
</file>