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58" r:id="rId6"/>
    <p:sldId id="271" r:id="rId7"/>
    <p:sldId id="261" r:id="rId8"/>
    <p:sldId id="272" r:id="rId9"/>
    <p:sldId id="273" r:id="rId1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8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46873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Oevererosietool</a:t>
            </a:r>
            <a:r>
              <a:rPr dirty="0"/>
              <a:t> — van </a:t>
            </a:r>
            <a:r>
              <a:rPr dirty="0" err="1"/>
              <a:t>lijn</a:t>
            </a:r>
            <a:r>
              <a:rPr dirty="0"/>
              <a:t> </a:t>
            </a:r>
            <a:r>
              <a:rPr dirty="0" err="1"/>
              <a:t>naar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rPr dirty="0" err="1"/>
              <a:t>Voortgang</a:t>
            </a:r>
            <a:r>
              <a:rPr dirty="0"/>
              <a:t> </a:t>
            </a:r>
            <a:r>
              <a:rPr dirty="0" err="1"/>
              <a:t>voorspellend</a:t>
            </a:r>
            <a:r>
              <a:rPr dirty="0"/>
              <a:t> model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rPr dirty="0"/>
              <a:t>Update 26 </a:t>
            </a:r>
            <a:r>
              <a:rPr dirty="0" err="1"/>
              <a:t>augustus</a:t>
            </a:r>
            <a:r>
              <a:rPr dirty="0"/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485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Eén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per </a:t>
            </a:r>
            <a:r>
              <a:rPr dirty="0" err="1"/>
              <a:t>scopevlak</a:t>
            </a:r>
            <a:r>
              <a:rPr dirty="0"/>
              <a:t> </a:t>
            </a:r>
            <a:r>
              <a:rPr lang="en-US" dirty="0"/>
              <a:t>-&gt; </a:t>
            </a:r>
            <a:r>
              <a:rPr dirty="0" err="1"/>
              <a:t>oever</a:t>
            </a:r>
            <a:r>
              <a:rPr dirty="0"/>
              <a:t> is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rechte</a:t>
            </a:r>
            <a:r>
              <a:rPr dirty="0"/>
              <a:t> </a:t>
            </a:r>
            <a:r>
              <a:rPr dirty="0" err="1"/>
              <a:t>lijn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 err="1"/>
              <a:t>hoogtemodel</a:t>
            </a:r>
            <a:r>
              <a:rPr dirty="0"/>
              <a:t> (</a:t>
            </a:r>
            <a:r>
              <a:rPr dirty="0" err="1"/>
              <a:t>maart</a:t>
            </a:r>
            <a:r>
              <a:rPr dirty="0"/>
              <a:t>): de </a:t>
            </a:r>
            <a:r>
              <a:rPr dirty="0" err="1"/>
              <a:t>ene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(</a:t>
            </a:r>
            <a:r>
              <a:rPr dirty="0" err="1"/>
              <a:t>gestippeld</a:t>
            </a:r>
            <a:r>
              <a:rPr dirty="0"/>
              <a:t>) </a:t>
            </a:r>
            <a:r>
              <a:rPr dirty="0" err="1"/>
              <a:t>ligt</a:t>
            </a:r>
            <a:r>
              <a:rPr dirty="0"/>
              <a:t> 38 m </a:t>
            </a:r>
            <a:r>
              <a:rPr dirty="0" err="1"/>
              <a:t>naast</a:t>
            </a:r>
            <a:r>
              <a:rPr dirty="0"/>
              <a:t> de </a:t>
            </a:r>
            <a:r>
              <a:rPr dirty="0" err="1"/>
              <a:t>gemeten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5143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</a:t>
            </a:r>
            <a:r>
              <a:rPr lang="en-US" dirty="0"/>
              <a:t>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3</a:t>
            </a:r>
            <a:endParaRPr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806509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Uitgangspunt</a:t>
            </a:r>
            <a:r>
              <a:rPr dirty="0"/>
              <a:t>: het model van 19 </a:t>
            </a:r>
            <a:r>
              <a:rPr dirty="0" err="1"/>
              <a:t>augustus</a:t>
            </a:r>
            <a:r>
              <a:rPr dirty="0"/>
              <a:t>, </a:t>
            </a:r>
            <a:r>
              <a:rPr dirty="0" err="1"/>
              <a:t>resolutie</a:t>
            </a:r>
            <a:r>
              <a:rPr dirty="0"/>
              <a:t> 1,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van 1174 </a:t>
            </a:r>
            <a:r>
              <a:rPr dirty="0" err="1"/>
              <a:t>vlakken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Verkeerde-oever-detecties</a:t>
            </a:r>
            <a:r>
              <a:rPr dirty="0"/>
              <a:t> </a:t>
            </a:r>
            <a:r>
              <a:rPr dirty="0" err="1"/>
              <a:t>weghalen</a:t>
            </a:r>
            <a:r>
              <a:rPr dirty="0"/>
              <a:t> </a:t>
            </a:r>
            <a:r>
              <a:rPr dirty="0" err="1"/>
              <a:t>zónder</a:t>
            </a:r>
            <a:r>
              <a:rPr dirty="0"/>
              <a:t> de meting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gooien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Kribben</a:t>
            </a:r>
            <a:r>
              <a:rPr dirty="0"/>
              <a:t>, </a:t>
            </a:r>
            <a:r>
              <a:rPr dirty="0" err="1"/>
              <a:t>bruggen</a:t>
            </a:r>
            <a:r>
              <a:rPr dirty="0"/>
              <a:t>, </a:t>
            </a:r>
            <a:r>
              <a:rPr dirty="0" err="1"/>
              <a:t>nevengeulen</a:t>
            </a:r>
            <a:r>
              <a:rPr dirty="0"/>
              <a:t>, </a:t>
            </a:r>
            <a:r>
              <a:rPr dirty="0" err="1"/>
              <a:t>doolhoven</a:t>
            </a:r>
            <a:r>
              <a:rPr dirty="0"/>
              <a:t>, </a:t>
            </a:r>
            <a:r>
              <a:rPr dirty="0" err="1"/>
              <a:t>fragmenten</a:t>
            </a:r>
            <a:r>
              <a:rPr dirty="0"/>
              <a:t>, </a:t>
            </a:r>
            <a:r>
              <a:rPr dirty="0" err="1"/>
              <a:t>uitschieters</a:t>
            </a:r>
            <a:r>
              <a:rPr dirty="0"/>
              <a:t> in de </a:t>
            </a:r>
            <a:r>
              <a:rPr dirty="0" err="1"/>
              <a:t>tijd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rPr dirty="0" err="1"/>
              <a:t>Leeswijzer</a:t>
            </a:r>
            <a:r>
              <a:rPr dirty="0"/>
              <a:t>: op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</a:t>
            </a:r>
            <a:r>
              <a:rPr dirty="0" err="1"/>
              <a:t>scoort</a:t>
            </a:r>
            <a:r>
              <a:rPr dirty="0"/>
              <a:t> het model van 19 </a:t>
            </a:r>
            <a:r>
              <a:rPr dirty="0" err="1"/>
              <a:t>augustus</a:t>
            </a:r>
            <a:r>
              <a:rPr dirty="0"/>
              <a:t> 3.99 m/</a:t>
            </a:r>
            <a:r>
              <a:rPr dirty="0" err="1"/>
              <a:t>jr</a:t>
            </a:r>
            <a:r>
              <a:rPr dirty="0"/>
              <a:t> (4.12 op de eigen split van </a:t>
            </a:r>
            <a:r>
              <a:rPr dirty="0" err="1"/>
              <a:t>toen</a:t>
            </a:r>
            <a:r>
              <a:rPr dirty="0"/>
              <a:t>). Alle </a:t>
            </a:r>
            <a:r>
              <a:rPr dirty="0" err="1"/>
              <a:t>cijfers</a:t>
            </a:r>
            <a:r>
              <a:rPr dirty="0"/>
              <a:t> </a:t>
            </a:r>
            <a:r>
              <a:rPr dirty="0" err="1"/>
              <a:t>hierna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op </a:t>
            </a:r>
            <a:r>
              <a:rPr dirty="0" err="1"/>
              <a:t>deze</a:t>
            </a:r>
            <a:r>
              <a:rPr dirty="0"/>
              <a:t> set, </a:t>
            </a:r>
            <a:r>
              <a:rPr dirty="0" err="1"/>
              <a:t>zodat</a:t>
            </a:r>
            <a:r>
              <a:rPr dirty="0"/>
              <a:t> </a:t>
            </a:r>
            <a:r>
              <a:rPr dirty="0" err="1"/>
              <a:t>stappen</a:t>
            </a:r>
            <a:r>
              <a:rPr dirty="0"/>
              <a:t> </a:t>
            </a:r>
            <a:r>
              <a:rPr dirty="0" err="1"/>
              <a:t>optelbaar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63505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Verkennende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SAM </a:t>
            </a:r>
            <a:r>
              <a:rPr lang="en-US" dirty="0" err="1"/>
              <a:t>resultaten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  <a:endParaRPr dirty="0"/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rPr lang="en-US" dirty="0" err="1"/>
              <a:t>Terugkerende</a:t>
            </a:r>
            <a:r>
              <a:rPr dirty="0"/>
              <a:t> </a:t>
            </a:r>
            <a:r>
              <a:rPr dirty="0" err="1"/>
              <a:t>patronen</a:t>
            </a:r>
            <a:r>
              <a:rPr dirty="0"/>
              <a:t> — elk </a:t>
            </a:r>
            <a:r>
              <a:rPr dirty="0" err="1"/>
              <a:t>een</a:t>
            </a:r>
            <a:r>
              <a:rPr dirty="0"/>
              <a:t> '</a:t>
            </a:r>
            <a:r>
              <a:rPr dirty="0" err="1"/>
              <a:t>oever</a:t>
            </a:r>
            <a:r>
              <a:rPr dirty="0"/>
              <a:t>' die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oever</a:t>
            </a:r>
            <a:r>
              <a:rPr dirty="0"/>
              <a:t>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 b="27893"/>
          <a:stretch>
            <a:fillRect/>
          </a:stretch>
        </p:blipFill>
        <p:spPr>
          <a:xfrm>
            <a:off x="289560" y="1993901"/>
            <a:ext cx="11612880" cy="3401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 — en alles samen: 3.99 → 2.27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Grootste winst: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Doolhof, fragment, kronkelende lijn: elk ≈ −0.3 tot −0.4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Kribben &amp; kunstwerken landelijk: 3.89 / 8.52 — geen foutwinst, wél 10 % minder vlakken: het masker haalt alleen de lijnen het dichtst bij de hartlijn weg, en rond kribben blijft geen vlak over om te voorspellen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Samen: 2.27 / 4.54 bij dekking 0.94 — meer dan de som van de delen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778"/>
                </a:solidFill>
              </a:defRPr>
            </a:pPr>
            <a:r>
              <a:t>Leeswijzer: 4.12 was de score van het 19 aug-model op zijn eigen willekeurige splitsing; op de bevroren testset van 1 174 vlakken scoort datzelfde model 3.99. Alle stappen in As 1–3 zijn op deze vaste set gemeten.</a:t>
            </a:r>
          </a:p>
        </p:txBody>
      </p:sp>
      <p:pic>
        <p:nvPicPr>
          <p:cNvPr id="9" name="Picture 8" descr="rule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17320"/>
            <a:ext cx="738156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10)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1.03 (R = 10) en 0.85 (R = 20) — maar de naïeve fout zakt mee: de skill piekt bij R = 10 (+30 %) en bij R = 20 heeft 31 % van de segment-datums geen meting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10 (≈ 10 m). Fijner is alleen een gladdere meetlat, geen beter model — tot de lijnbemonstering (60 punten per lijn) verdicht wordt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endParaRPr/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10: skill +30 %, positiefout 1.05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14 = het experiment op de vaste testset (met test-set early stopping); dit = de volledige pipeline op een nieuwe splitsing zónder de testset in de training — strenger, en daarom hoger: 2.13 → 2.47 en 1.07 → 1.23 (R = 5; R = 10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10–20 m) een verwachte positie ≥ 2 jaar vooruit — mediane positiefout ≈ 1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Tien segmenten per vlak (≈ 10 m); gemeten én voorspelde oever als lijn; positiefout ≈ 1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2149</Words>
  <Application>Microsoft Macintosh PowerPoint</Application>
  <PresentationFormat>Widescreen</PresentationFormat>
  <Paragraphs>195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5</cp:revision>
  <dcterms:created xsi:type="dcterms:W3CDTF">2013-01-27T09:14:16Z</dcterms:created>
  <dcterms:modified xsi:type="dcterms:W3CDTF">2026-08-26T10:25:33Z</dcterms:modified>
  <cp:category/>
</cp:coreProperties>
</file>