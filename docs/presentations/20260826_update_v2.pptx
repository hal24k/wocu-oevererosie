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70" r:id="rId4"/>
    <p:sldId id="259" r:id="rId5"/>
    <p:sldId id="258" r:id="rId6"/>
    <p:sldId id="271" r:id="rId7"/>
    <p:sldId id="261" r:id="rId8"/>
    <p:sldId id="272" r:id="rId9"/>
    <p:sldId id="273" r:id="rId10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536"/>
    <p:restoredTop sz="94695"/>
  </p:normalViewPr>
  <p:slideViewPr>
    <p:cSldViewPr snapToGrid="0" snapToObjects="1">
      <p:cViewPr varScale="1">
        <p:scale>
          <a:sx n="101" d="100"/>
          <a:sy n="101" d="100"/>
        </p:scale>
        <p:origin x="808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5FDD8D-4CBC-4347-B89D-F063BFE20A1D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ABB5FF-E68F-F848-8B49-42D48E9715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5704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De val: het maartcijfer zag er goed uit omdat de meetlat mild was (3–4 jaar) én omdat één getal per vlak veel verbergt. paars = VVR, zwart = hartlijn, groen = gemeten oever per jaar.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Dit is de hele presentatie in één plaatje.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6.png"/><Relationship Id="rId5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8246873" cy="15696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rPr dirty="0" err="1"/>
              <a:t>Oevererosietool</a:t>
            </a:r>
            <a:r>
              <a:rPr dirty="0"/>
              <a:t> — van </a:t>
            </a:r>
            <a:r>
              <a:rPr dirty="0" err="1"/>
              <a:t>lijn</a:t>
            </a:r>
            <a:r>
              <a:rPr dirty="0"/>
              <a:t> </a:t>
            </a:r>
            <a:r>
              <a:rPr dirty="0" err="1"/>
              <a:t>naar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rPr dirty="0" err="1"/>
              <a:t>Voortgang</a:t>
            </a:r>
            <a:r>
              <a:rPr dirty="0"/>
              <a:t> </a:t>
            </a:r>
            <a:r>
              <a:rPr dirty="0" err="1"/>
              <a:t>voorspellend</a:t>
            </a:r>
            <a:r>
              <a:rPr dirty="0"/>
              <a:t> model</a:t>
            </a:r>
          </a:p>
          <a:p>
            <a:pPr>
              <a:spcBef>
                <a:spcPts val="1200"/>
              </a:spcBef>
              <a:defRPr sz="1600">
                <a:solidFill>
                  <a:srgbClr val="FFFFFF"/>
                </a:solidFill>
              </a:defRPr>
            </a:pPr>
            <a:r>
              <a:rPr dirty="0"/>
              <a:t>Update 26 </a:t>
            </a:r>
            <a:r>
              <a:rPr dirty="0" err="1"/>
              <a:t>augustus</a:t>
            </a:r>
            <a:r>
              <a:rPr dirty="0"/>
              <a:t>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Waar we in maart stonden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4851456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Eén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per </a:t>
            </a:r>
            <a:r>
              <a:rPr dirty="0" err="1"/>
              <a:t>scopevlak</a:t>
            </a:r>
            <a:r>
              <a:rPr dirty="0"/>
              <a:t> </a:t>
            </a:r>
            <a:r>
              <a:rPr lang="en-US" dirty="0"/>
              <a:t>-&gt; </a:t>
            </a:r>
            <a:r>
              <a:rPr dirty="0" err="1"/>
              <a:t>oever</a:t>
            </a:r>
            <a:r>
              <a:rPr dirty="0"/>
              <a:t> is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rechte</a:t>
            </a:r>
            <a:r>
              <a:rPr dirty="0"/>
              <a:t> </a:t>
            </a:r>
            <a:r>
              <a:rPr dirty="0" err="1"/>
              <a:t>lijn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2</a:t>
            </a:r>
          </a:p>
        </p:txBody>
      </p:sp>
      <p:pic>
        <p:nvPicPr>
          <p:cNvPr id="5" name="Picture 4" descr="maas3_l_17410_174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63040"/>
            <a:ext cx="4511761" cy="4206240"/>
          </a:xfrm>
          <a:prstGeom prst="rect">
            <a:avLst/>
          </a:prstGeom>
        </p:spPr>
      </p:pic>
      <p:pic>
        <p:nvPicPr>
          <p:cNvPr id="6" name="Picture 5" descr="nederrijn_r_4470_448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458030"/>
            <a:ext cx="4527056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669280"/>
            <a:ext cx="4023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 err="1"/>
              <a:t>hoogtemodel</a:t>
            </a:r>
            <a:r>
              <a:rPr dirty="0"/>
              <a:t> (</a:t>
            </a:r>
            <a:r>
              <a:rPr dirty="0" err="1"/>
              <a:t>maart</a:t>
            </a:r>
            <a:r>
              <a:rPr dirty="0"/>
              <a:t>): de </a:t>
            </a:r>
            <a:r>
              <a:rPr dirty="0" err="1"/>
              <a:t>ene</a:t>
            </a:r>
            <a:r>
              <a:rPr dirty="0"/>
              <a:t> </a:t>
            </a:r>
            <a:r>
              <a:rPr dirty="0" err="1"/>
              <a:t>afstand</a:t>
            </a:r>
            <a:r>
              <a:rPr dirty="0"/>
              <a:t> (</a:t>
            </a:r>
            <a:r>
              <a:rPr dirty="0" err="1"/>
              <a:t>gestippeld</a:t>
            </a:r>
            <a:r>
              <a:rPr dirty="0"/>
              <a:t>) </a:t>
            </a:r>
            <a:r>
              <a:rPr dirty="0" err="1"/>
              <a:t>ligt</a:t>
            </a:r>
            <a:r>
              <a:rPr dirty="0"/>
              <a:t> 38 m </a:t>
            </a:r>
            <a:r>
              <a:rPr dirty="0" err="1"/>
              <a:t>naast</a:t>
            </a:r>
            <a:r>
              <a:rPr dirty="0"/>
              <a:t> de </a:t>
            </a:r>
            <a:r>
              <a:rPr dirty="0" err="1"/>
              <a:t>gemeten</a:t>
            </a:r>
            <a:r>
              <a:rPr dirty="0"/>
              <a:t> </a:t>
            </a:r>
            <a:r>
              <a:rPr dirty="0" err="1"/>
              <a:t>oever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6096000" y="5664270"/>
            <a:ext cx="51435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rPr dirty="0"/>
              <a:t>SAM (nu): de </a:t>
            </a:r>
            <a:r>
              <a:rPr dirty="0" err="1"/>
              <a:t>oever</a:t>
            </a:r>
            <a:r>
              <a:rPr dirty="0"/>
              <a:t> </a:t>
            </a:r>
            <a:r>
              <a:rPr dirty="0" err="1"/>
              <a:t>kronkelt</a:t>
            </a:r>
            <a:r>
              <a:rPr dirty="0"/>
              <a:t> om </a:t>
            </a:r>
            <a:r>
              <a:rPr dirty="0" err="1"/>
              <a:t>een</a:t>
            </a:r>
            <a:r>
              <a:rPr dirty="0"/>
              <a:t> </a:t>
            </a:r>
            <a:r>
              <a:rPr dirty="0" err="1"/>
              <a:t>kribvak</a:t>
            </a:r>
            <a:r>
              <a:rPr dirty="0"/>
              <a:t> —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getal</a:t>
            </a:r>
            <a:r>
              <a:rPr dirty="0"/>
              <a:t> </a:t>
            </a:r>
            <a:r>
              <a:rPr dirty="0" err="1"/>
              <a:t>zegt</a:t>
            </a:r>
            <a:r>
              <a:rPr dirty="0"/>
              <a:t> </a:t>
            </a:r>
            <a:r>
              <a:rPr dirty="0" err="1"/>
              <a:t>hier</a:t>
            </a:r>
            <a:r>
              <a:rPr dirty="0"/>
              <a:t> </a:t>
            </a:r>
            <a:r>
              <a:rPr dirty="0" err="1"/>
              <a:t>nog</a:t>
            </a:r>
            <a:r>
              <a:rPr dirty="0"/>
              <a:t> minder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6B593F3-CFB5-118B-2255-4F90EC3B0783}"/>
              </a:ext>
            </a:extLst>
          </p:cNvPr>
          <p:cNvSpPr txBox="1"/>
          <p:nvPr/>
        </p:nvSpPr>
        <p:spPr>
          <a:xfrm>
            <a:off x="548640" y="320040"/>
            <a:ext cx="8044062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Afgelopen</a:t>
            </a:r>
            <a:r>
              <a:rPr lang="en-US" dirty="0"/>
              <a:t> week: </a:t>
            </a:r>
            <a:r>
              <a:rPr lang="en-US" dirty="0" err="1"/>
              <a:t>nieuwe</a:t>
            </a:r>
            <a:r>
              <a:rPr lang="en-US" dirty="0"/>
              <a:t> SAM data </a:t>
            </a:r>
            <a:r>
              <a:rPr lang="en-US" dirty="0" err="1"/>
              <a:t>meegenomen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57D906F-AB61-355A-D295-4446B008C522}"/>
              </a:ext>
            </a:extLst>
          </p:cNvPr>
          <p:cNvSpPr txBox="1"/>
          <p:nvPr/>
        </p:nvSpPr>
        <p:spPr>
          <a:xfrm>
            <a:off x="548640" y="5577840"/>
            <a:ext cx="110642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i="0">
                <a:solidFill>
                  <a:srgbClr val="1F3A3D"/>
                </a:solidFill>
              </a:defRPr>
            </a:pPr>
            <a:r>
              <a:rPr dirty="0" err="1"/>
              <a:t>Dezelfde</a:t>
            </a:r>
            <a:r>
              <a:rPr dirty="0"/>
              <a:t> </a:t>
            </a:r>
            <a:r>
              <a:rPr dirty="0" err="1"/>
              <a:t>meetruis</a:t>
            </a:r>
            <a:r>
              <a:rPr dirty="0"/>
              <a:t>, </a:t>
            </a:r>
            <a:r>
              <a:rPr dirty="0" err="1"/>
              <a:t>gedeeld</a:t>
            </a:r>
            <a:r>
              <a:rPr dirty="0"/>
              <a:t> door </a:t>
            </a:r>
            <a:r>
              <a:rPr dirty="0" err="1"/>
              <a:t>een</a:t>
            </a:r>
            <a:r>
              <a:rPr dirty="0"/>
              <a:t> 4× </a:t>
            </a:r>
            <a:r>
              <a:rPr dirty="0" err="1"/>
              <a:t>kleiner</a:t>
            </a:r>
            <a:r>
              <a:rPr dirty="0"/>
              <a:t> </a:t>
            </a:r>
            <a:r>
              <a:rPr dirty="0" err="1"/>
              <a:t>tijdsverschil</a:t>
            </a:r>
            <a:r>
              <a:rPr dirty="0"/>
              <a:t>: het </a:t>
            </a:r>
            <a:r>
              <a:rPr dirty="0" err="1"/>
              <a:t>doel</a:t>
            </a:r>
            <a:r>
              <a:rPr dirty="0"/>
              <a:t> </a:t>
            </a:r>
            <a:r>
              <a:rPr dirty="0" err="1"/>
              <a:t>wordt</a:t>
            </a:r>
            <a:r>
              <a:rPr dirty="0"/>
              <a:t> 4× </a:t>
            </a:r>
            <a:r>
              <a:rPr dirty="0" err="1"/>
              <a:t>ruiziger</a:t>
            </a:r>
            <a:r>
              <a:rPr dirty="0"/>
              <a:t> </a:t>
            </a:r>
            <a:r>
              <a:rPr dirty="0" err="1"/>
              <a:t>en</a:t>
            </a:r>
            <a:r>
              <a:rPr dirty="0"/>
              <a:t> </a:t>
            </a:r>
            <a:r>
              <a:rPr dirty="0" err="1"/>
              <a:t>élke</a:t>
            </a:r>
            <a:r>
              <a:rPr dirty="0"/>
              <a:t> </a:t>
            </a:r>
            <a:r>
              <a:rPr dirty="0" err="1"/>
              <a:t>fout</a:t>
            </a:r>
            <a:r>
              <a:rPr dirty="0"/>
              <a:t> </a:t>
            </a:r>
            <a:r>
              <a:rPr dirty="0" err="1"/>
              <a:t>groeit</a:t>
            </a:r>
            <a:r>
              <a:rPr dirty="0"/>
              <a:t> mee</a:t>
            </a:r>
            <a:r>
              <a:rPr lang="en-US" dirty="0"/>
              <a:t>. </a:t>
            </a:r>
            <a:r>
              <a:rPr dirty="0" err="1"/>
              <a:t>Relatief</a:t>
            </a:r>
            <a:r>
              <a:rPr dirty="0"/>
              <a:t> </a:t>
            </a:r>
            <a:r>
              <a:rPr dirty="0" err="1"/>
              <a:t>verslaat</a:t>
            </a:r>
            <a:r>
              <a:rPr dirty="0"/>
              <a:t> het model nu </a:t>
            </a:r>
            <a:r>
              <a:rPr dirty="0" err="1"/>
              <a:t>voor</a:t>
            </a:r>
            <a:r>
              <a:rPr dirty="0"/>
              <a:t> het </a:t>
            </a:r>
            <a:r>
              <a:rPr dirty="0" err="1"/>
              <a:t>eerst</a:t>
            </a:r>
            <a:r>
              <a:rPr dirty="0"/>
              <a:t> de baseline</a:t>
            </a:r>
            <a:r>
              <a:rPr lang="en-US" dirty="0"/>
              <a:t>.</a:t>
            </a: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0972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3</a:t>
            </a:r>
            <a:endParaRPr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3351747"/>
              </p:ext>
            </p:extLst>
          </p:nvPr>
        </p:nvGraphicFramePr>
        <p:xfrm>
          <a:off x="548640" y="1463040"/>
          <a:ext cx="11064240" cy="3910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endParaRPr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maart 2026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alleen hoogtemodel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>
                          <a:solidFill>
                            <a:schemeClr val="tx1"/>
                          </a:solidFill>
                        </a:rPr>
                        <a:t>19 augustus</a:t>
                      </a:r>
                    </a:p>
                    <a:p>
                      <a:pPr algn="ctr"/>
                      <a:r>
                        <a:rPr>
                          <a:solidFill>
                            <a:schemeClr val="tx1"/>
                          </a:solidFill>
                        </a:rPr>
                        <a:t>hybride (SAM + hoogtemodel)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>
                          <a:solidFill>
                            <a:schemeClr val="tx1"/>
                          </a:solidFill>
                        </a:rPr>
                        <a:t>nu: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uitgangspunt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dirty="0" err="1">
                          <a:solidFill>
                            <a:schemeClr val="tx1"/>
                          </a:solidFill>
                        </a:rPr>
                        <a:t>zelfde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model,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vaste</a:t>
                      </a:r>
                      <a:r>
                        <a:rPr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dirty="0" err="1">
                          <a:solidFill>
                            <a:schemeClr val="tx1"/>
                          </a:solidFill>
                        </a:rPr>
                        <a:t>testset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Baseline (naïef gemiddelde)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4.68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0.94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3.99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t.o.v.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20 % slechter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14 % beter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15 % beter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LightGBM — fout risicogevallen &gt; 2 m/jr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4.61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9.13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8.30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Spreiding doelvariabele v_test (m/jr)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11.4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9.2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Tijd tussen t-punten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3–4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1 jaar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Testset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willekeurig 20 %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vast · 1 174 </a:t>
                      </a:r>
                      <a:r>
                        <a:rPr dirty="0" err="1"/>
                        <a:t>vlakken</a:t>
                      </a:r>
                      <a:endParaRPr dirty="0"/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t>Regio's met voorspellingen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7 444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0">
                          <a:solidFill>
                            <a:srgbClr val="1F3A3D"/>
                          </a:solidFill>
                        </a:defRPr>
                      </a:pPr>
                      <a:r>
                        <a:t>8 006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1F3A3D"/>
                          </a:solidFill>
                        </a:defRPr>
                      </a:pPr>
                      <a:r>
                        <a:rPr dirty="0"/>
                        <a:t>10 437</a:t>
                      </a:r>
                    </a:p>
                  </a:txBody>
                  <a:tcPr>
                    <a:solidFill>
                      <a:srgbClr val="FFF1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85514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dirty="0" err="1"/>
              <a:t>Drie</a:t>
            </a:r>
            <a:r>
              <a:rPr dirty="0"/>
              <a:t> </a:t>
            </a:r>
            <a:r>
              <a:rPr dirty="0" err="1"/>
              <a:t>assen</a:t>
            </a:r>
            <a:r>
              <a:rPr dirty="0"/>
              <a:t> om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verbeteren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8065093" cy="3539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rPr dirty="0" err="1"/>
              <a:t>Uitgangspunt</a:t>
            </a:r>
            <a:r>
              <a:rPr dirty="0"/>
              <a:t>: het model van 19 </a:t>
            </a:r>
            <a:r>
              <a:rPr dirty="0" err="1"/>
              <a:t>augustus</a:t>
            </a:r>
            <a:r>
              <a:rPr dirty="0"/>
              <a:t>, </a:t>
            </a:r>
            <a:r>
              <a:rPr dirty="0" err="1"/>
              <a:t>resolutie</a:t>
            </a:r>
            <a:r>
              <a:rPr dirty="0"/>
              <a:t> 1, </a:t>
            </a:r>
            <a:r>
              <a:rPr dirty="0" err="1"/>
              <a:t>één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van 1174 </a:t>
            </a:r>
            <a:r>
              <a:rPr dirty="0" err="1"/>
              <a:t>vlakken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4</a:t>
            </a:r>
            <a:endParaRPr dirty="0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 · Opschonen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Verkeerde-oever-detecties</a:t>
            </a:r>
            <a:r>
              <a:rPr dirty="0"/>
              <a:t> </a:t>
            </a:r>
            <a:r>
              <a:rPr dirty="0" err="1"/>
              <a:t>weghalen</a:t>
            </a:r>
            <a:r>
              <a:rPr dirty="0"/>
              <a:t> </a:t>
            </a:r>
            <a:r>
              <a:rPr dirty="0" err="1"/>
              <a:t>zónder</a:t>
            </a:r>
            <a:r>
              <a:rPr dirty="0"/>
              <a:t> de meting </a:t>
            </a:r>
            <a:r>
              <a:rPr dirty="0" err="1"/>
              <a:t>weg</a:t>
            </a:r>
            <a:r>
              <a:rPr dirty="0"/>
              <a:t> </a:t>
            </a:r>
            <a:r>
              <a:rPr dirty="0" err="1"/>
              <a:t>te</a:t>
            </a:r>
            <a:r>
              <a:rPr dirty="0"/>
              <a:t> </a:t>
            </a:r>
            <a:r>
              <a:rPr dirty="0" err="1"/>
              <a:t>gooien</a:t>
            </a:r>
            <a:endParaRPr dirty="0"/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rPr dirty="0"/>
              <a:t>• </a:t>
            </a:r>
            <a:r>
              <a:rPr dirty="0" err="1"/>
              <a:t>Kribben</a:t>
            </a:r>
            <a:r>
              <a:rPr dirty="0"/>
              <a:t>, </a:t>
            </a:r>
            <a:r>
              <a:rPr dirty="0" err="1"/>
              <a:t>bruggen</a:t>
            </a:r>
            <a:r>
              <a:rPr dirty="0"/>
              <a:t>, </a:t>
            </a:r>
            <a:r>
              <a:rPr dirty="0" err="1"/>
              <a:t>nevengeulen</a:t>
            </a:r>
            <a:r>
              <a:rPr dirty="0"/>
              <a:t>, </a:t>
            </a:r>
            <a:r>
              <a:rPr dirty="0" err="1"/>
              <a:t>doolhoven</a:t>
            </a:r>
            <a:r>
              <a:rPr dirty="0"/>
              <a:t>, </a:t>
            </a:r>
            <a:r>
              <a:rPr dirty="0" err="1"/>
              <a:t>fragmenten</a:t>
            </a:r>
            <a:r>
              <a:rPr dirty="0"/>
              <a:t>, </a:t>
            </a:r>
            <a:r>
              <a:rPr dirty="0" err="1"/>
              <a:t>uitschieters</a:t>
            </a:r>
            <a:r>
              <a:rPr dirty="0"/>
              <a:t> in de </a:t>
            </a:r>
            <a:r>
              <a:rPr dirty="0" err="1"/>
              <a:t>tijd</a:t>
            </a:r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 · Meerdere t-punten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Snelheid als trend over álle metingen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Versnelling, terugkeer naar gemiddelde, recente helling als feature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 · Resolutie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Meerdere segmenten per vlak in plaats van één afstand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Gemeten én voorspelde oever als lijn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577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i="0">
                <a:solidFill>
                  <a:srgbClr val="1F3A3D"/>
                </a:solidFill>
              </a:defRPr>
            </a:pPr>
            <a:r>
              <a:rPr dirty="0" err="1"/>
              <a:t>Leeswijzer</a:t>
            </a:r>
            <a:r>
              <a:rPr dirty="0"/>
              <a:t>: op </a:t>
            </a:r>
            <a:r>
              <a:rPr dirty="0" err="1"/>
              <a:t>deze</a:t>
            </a:r>
            <a:r>
              <a:rPr dirty="0"/>
              <a:t> </a:t>
            </a:r>
            <a:r>
              <a:rPr dirty="0" err="1"/>
              <a:t>vaste</a:t>
            </a:r>
            <a:r>
              <a:rPr dirty="0"/>
              <a:t> </a:t>
            </a:r>
            <a:r>
              <a:rPr dirty="0" err="1"/>
              <a:t>testset</a:t>
            </a:r>
            <a:r>
              <a:rPr dirty="0"/>
              <a:t> </a:t>
            </a:r>
            <a:r>
              <a:rPr dirty="0" err="1"/>
              <a:t>scoort</a:t>
            </a:r>
            <a:r>
              <a:rPr dirty="0"/>
              <a:t> het model van 19 </a:t>
            </a:r>
            <a:r>
              <a:rPr dirty="0" err="1"/>
              <a:t>augustus</a:t>
            </a:r>
            <a:r>
              <a:rPr dirty="0"/>
              <a:t> 3.99 m/</a:t>
            </a:r>
            <a:r>
              <a:rPr dirty="0" err="1"/>
              <a:t>jr</a:t>
            </a:r>
            <a:r>
              <a:rPr dirty="0"/>
              <a:t> (4.12 op de eigen split van </a:t>
            </a:r>
            <a:r>
              <a:rPr dirty="0" err="1"/>
              <a:t>toen</a:t>
            </a:r>
            <a:r>
              <a:rPr dirty="0"/>
              <a:t>). Alle </a:t>
            </a:r>
            <a:r>
              <a:rPr dirty="0" err="1"/>
              <a:t>cijfers</a:t>
            </a:r>
            <a:r>
              <a:rPr dirty="0"/>
              <a:t> </a:t>
            </a:r>
            <a:r>
              <a:rPr dirty="0" err="1"/>
              <a:t>hierna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 op </a:t>
            </a:r>
            <a:r>
              <a:rPr dirty="0" err="1"/>
              <a:t>deze</a:t>
            </a:r>
            <a:r>
              <a:rPr dirty="0"/>
              <a:t> set, </a:t>
            </a:r>
            <a:r>
              <a:rPr dirty="0" err="1"/>
              <a:t>zodat</a:t>
            </a:r>
            <a:r>
              <a:rPr dirty="0"/>
              <a:t> </a:t>
            </a:r>
            <a:r>
              <a:rPr dirty="0" err="1"/>
              <a:t>stappen</a:t>
            </a:r>
            <a:r>
              <a:rPr dirty="0"/>
              <a:t> </a:t>
            </a:r>
            <a:r>
              <a:rPr dirty="0" err="1"/>
              <a:t>optelbaar</a:t>
            </a:r>
            <a:r>
              <a:rPr dirty="0"/>
              <a:t> </a:t>
            </a:r>
            <a:r>
              <a:rPr dirty="0" err="1"/>
              <a:t>zijn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6350585" cy="55399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rPr lang="en-US" dirty="0" err="1"/>
              <a:t>Verkennende</a:t>
            </a:r>
            <a:r>
              <a:rPr lang="en-US" dirty="0"/>
              <a:t> </a:t>
            </a:r>
            <a:r>
              <a:rPr lang="en-US" dirty="0" err="1"/>
              <a:t>analyse</a:t>
            </a:r>
            <a:r>
              <a:rPr lang="en-US" dirty="0"/>
              <a:t> SAM </a:t>
            </a:r>
            <a:r>
              <a:rPr lang="en-US" dirty="0" err="1"/>
              <a:t>resultaten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Hybride levering: SAM + hoogtemodel · tot 11 meetmomenten · 1 jaar tussen t-punten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2273379" cy="2462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5</a:t>
            </a:r>
            <a:endParaRPr dirty="0"/>
          </a:p>
        </p:txBody>
      </p:sp>
      <p:pic>
        <p:nvPicPr>
          <p:cNvPr id="5" name="Picture 4" descr="aug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102" y="1426122"/>
            <a:ext cx="8845881" cy="49746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we in de SAM-lijnen tegenkomen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rPr lang="en-US" dirty="0" err="1"/>
              <a:t>Terugkerende</a:t>
            </a:r>
            <a:r>
              <a:rPr dirty="0"/>
              <a:t> </a:t>
            </a:r>
            <a:r>
              <a:rPr dirty="0" err="1"/>
              <a:t>patronen</a:t>
            </a:r>
            <a:r>
              <a:rPr dirty="0"/>
              <a:t> — elk </a:t>
            </a:r>
            <a:r>
              <a:rPr dirty="0" err="1"/>
              <a:t>een</a:t>
            </a:r>
            <a:r>
              <a:rPr dirty="0"/>
              <a:t> '</a:t>
            </a:r>
            <a:r>
              <a:rPr dirty="0" err="1"/>
              <a:t>oever</a:t>
            </a:r>
            <a:r>
              <a:rPr dirty="0"/>
              <a:t>' die </a:t>
            </a:r>
            <a:r>
              <a:rPr dirty="0" err="1"/>
              <a:t>geen</a:t>
            </a:r>
            <a:r>
              <a:rPr dirty="0"/>
              <a:t> </a:t>
            </a:r>
            <a:r>
              <a:rPr dirty="0" err="1"/>
              <a:t>oever</a:t>
            </a:r>
            <a:r>
              <a:rPr dirty="0"/>
              <a:t> is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rcRect t="20030" b="27893"/>
          <a:stretch>
            <a:fillRect/>
          </a:stretch>
        </p:blipFill>
        <p:spPr>
          <a:xfrm>
            <a:off x="289560" y="1993901"/>
            <a:ext cx="11612880" cy="34010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864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0" i="0">
                <a:solidFill>
                  <a:srgbClr val="1F3A3D"/>
                </a:solidFill>
              </a:defRPr>
            </a:pPr>
            <a:r>
              <a:t>Daarnaast: nevengeulen en plassen (5.9 % van de metingen in 'normale' vlakken), fragmenten (&lt; 25 % van het vlak) en metingen die 15 m van de trend afwijken. Elk patroon = één opschoonregel; elke regel = een gok naar iets wat een mens zeker weet.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1 · Voorbeeld: wat een opschoonregel doet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Kribvak op de Nederrijn — zonder en met structurenmasker (kribben + kunstwerken, 10 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7</a:t>
            </a:r>
          </a:p>
        </p:txBody>
      </p:sp>
      <p:pic>
        <p:nvPicPr>
          <p:cNvPr id="5" name="Picture 4" descr="nederrijn_r_4780_47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863840" cy="356649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669280"/>
            <a:ext cx="7863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6B7778"/>
                </a:solidFill>
              </a:defRPr>
            </a:pPr>
            <a:r>
              <a:t>links: zonder masker · rechts: met kribben + bruggen/kades/steigers (10 m) · grijs = constructie · paars = VVR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Zonder masker volgt de 'oever' de kribflank: het ene getal per jaar (gestippeld) springt heen en weer — +7.7 m/jr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Met masker vallen de kribpunten weg en blijft de echte oever over: −22.2 m/jr, consistent over de jaren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Zo werkt elke regel: niet de meting weggooien, maar het deel dat geen oever is</a:t>
            </a:r>
          </a:p>
          <a:p>
            <a:pPr>
              <a:spcAft>
                <a:spcPts val="600"/>
              </a:spcAft>
              <a:defRPr sz="1300">
                <a:solidFill>
                  <a:srgbClr val="1F3A3D"/>
                </a:solidFill>
              </a:defRPr>
            </a:pPr>
            <a:r>
              <a:t>• Deze week: kribben landelijk (1 922 → 4 698) en 6 386 kunstwerken als laag — geen gok meer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Hoeveel vlakken raakt elke regel?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de basisdata · een vlak kan in meerdere balken staan</a:t>
            </a:r>
          </a:p>
        </p:txBody>
      </p:sp>
      <p:pic>
        <p:nvPicPr>
          <p:cNvPr id="4" name="Picture 3" descr="rule_touch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863840" cy="34314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64592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5 165 van de 11 517 vlakken worden door ≥ 1 regel geraakt; 284 verdwijnen helemaal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Kronkelende lijnen, doolhoven en uitschieters in de tijd zijn púúr SAM-verschijnselen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Hoogtemodel-vlakken worden vrijwel alleen door het kribbenmasker en fragmenten geraakt (429 van 2 033)</a:t>
            </a:r>
          </a:p>
          <a:p>
            <a:pPr>
              <a:spcAft>
                <a:spcPts val="500"/>
              </a:spcAft>
              <a:defRPr sz="1300">
                <a:solidFill>
                  <a:srgbClr val="1F3A3D"/>
                </a:solidFill>
              </a:defRPr>
            </a:pPr>
            <a:r>
              <a:t>• 'Te weinig punten' raakt op zichzelf niets — het bijt pas nadat andere regels een meting uitdunnen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 i="0">
                <a:solidFill>
                  <a:srgbClr val="2BB5A6"/>
                </a:solidFill>
              </a:defRPr>
            </a:pPr>
            <a:r>
              <a:t>As 1 · Wat doet elke regel alleen — en alles samen: 3.99 → 2.27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0" i="0">
                <a:solidFill>
                  <a:srgbClr val="1F3A3D"/>
                </a:solidFill>
              </a:defRPr>
            </a:pPr>
            <a:r>
              <a:t>Elke regel apart op het 19 aug-model · vaste testset · resolutie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155448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Grootste winst: uitschieter in de tijd (3.99 → 3.03) — één afwijkende meting vervuilde het hele vlak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Doolhof, fragment, kronkelende lijn: elk ≈ −0.3 tot −0.4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Kribben &amp; kunstwerken landelijk: 3.89 / 8.52 — geen foutwinst, wél 10 % minder vlakken: het masker haalt alleen de lijnen het dichtst bij de hartlijn weg, en rond kribben blijft geen vlak over om te voorspellen</a:t>
            </a:r>
          </a:p>
          <a:p>
            <a:pPr>
              <a:spcAft>
                <a:spcPts val="500"/>
              </a:spcAft>
              <a:defRPr sz="1200" b="0">
                <a:solidFill>
                  <a:srgbClr val="1F3A3D"/>
                </a:solidFill>
              </a:defRPr>
            </a:pPr>
            <a:r>
              <a:t>• Samen: 2.27 / 4.54 bij dekking 0.94 — meer dan de som van de delen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0" i="0">
                <a:solidFill>
                  <a:srgbClr val="6B7778"/>
                </a:solidFill>
              </a:defRPr>
            </a:pPr>
            <a:r>
              <a:t>Oevererosietool · update 26-08-2026 · 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669280"/>
            <a:ext cx="8412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i="1">
                <a:solidFill>
                  <a:srgbClr val="6B7778"/>
                </a:solidFill>
              </a:defRPr>
            </a:pPr>
            <a:r>
              <a:t>Leeswijzer: 4.12 was de score van het 19 aug-model op zijn eigen willekeurige splitsing; op de bevroren testset van 1 174 vlakken scoort datzelfde model 3.99. Alle stappen in As 1–3 zijn op deze vaste set gemeten.</a:t>
            </a:r>
          </a:p>
        </p:txBody>
      </p:sp>
      <p:pic>
        <p:nvPicPr>
          <p:cNvPr id="9" name="Picture 8" descr="rule_abl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417320"/>
            <a:ext cx="7381568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2 · Meerdere t-punten: als feature én als meetlat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2a · de hele meetreeks als feature: 2.27 → 2.13   ·   2b · paren ≥ 2 jaar als meetlat: 1.37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55448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2a · Features uit de hele meetreeks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Trend (Theil–Sen), spreiding om de trend, versnelling, terugkeer naar gemiddelde, recente helling — zelfde doel, zelfde split: 2.27 → 2.13</a:t>
            </a:r>
          </a:p>
          <a:p>
            <a:pPr>
              <a:spcAft>
                <a:spcPts val="400"/>
              </a:spcAft>
              <a:defRPr sz="1200" b="1">
                <a:solidFill>
                  <a:srgbClr val="1F3A3D"/>
                </a:solidFill>
              </a:defRPr>
            </a:pPr>
            <a:r>
              <a:t>2b · Paren ≥ 2 jaar als meetlat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Hoogtemodel-opnames liggen 3–5 jaar uit elkaar; SAM 1 jaar → dezelfde meetruis ÷ 1 jaar = ruis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Zelfde doel (m/jr), alleen paren ≥ 2 jaar, álle paren: 1 vlak met 6 metingen = 10 leervoorbeelden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Eerlijk: de naïeve fout zakt mee (2.67 → 1.77); de skill gaat van +20 % naar +23 %. Dit is 'meten wat we kunnen voorspellen', geen 35 % beter model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Nog niet overal: 715 van 1 174 testvlakken hebben zo'n paar — groeit met elk SAM-jaar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Wat niet werkte: losse jaar-op-jaar stappen als doel, huber-loss, debiet</a:t>
            </a:r>
          </a:p>
        </p:txBody>
      </p:sp>
      <p:pic>
        <p:nvPicPr>
          <p:cNvPr id="7" name="Picture 6" descr="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295268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Resolutie: van scalar naar oeverlijn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Eén afstand per vlak verbergt dat 20 m hard erodeert en 80 m stil ligt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11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216996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35040" y="155448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Wat je ziet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groen = gemeten oever per segment (2026) · bruin = voorspeld 2027 per segment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gestippeld = de oude voorspelling: één getal voor het hele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paars = VVR / signaleringslijn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Dit vlak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Eén getal zegt −9.7 m/jr; de vijf segmenten lopen van −17.1 tot +1.4 (voorbeeld op R = 5; gekozen resolutie R = 20)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Het bovenste segment nadert de VVR; de rest niet — het alarm hoort per segment te kijken</a:t>
            </a:r>
          </a:p>
          <a:p>
            <a:pPr>
              <a:spcAft>
                <a:spcPts val="400"/>
              </a:spcAft>
              <a:defRPr sz="1300" b="1">
                <a:solidFill>
                  <a:srgbClr val="1F3A3D"/>
                </a:solidFill>
              </a:defRPr>
            </a:pPr>
            <a:r>
              <a:t>Vandaag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VVR-jaar = één drempel per vlak (het verst gelegen punt van de signaleringslijn) tegen één scalar → per definitie laat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As 3 · Hoe fijn kan het?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Zelfde vlak, R = 1 … 100 · en de fout per segment op de As 2-meetlat (paren ≥ 2 jaar), per 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12</a:t>
            </a:r>
          </a:p>
        </p:txBody>
      </p:sp>
      <p:pic>
        <p:nvPicPr>
          <p:cNvPr id="5" name="Picture 4" descr="maas3_r_8930_89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5760720" cy="32809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754880"/>
            <a:ext cx="11430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De segment-representatie (bruin) volgt de gemeten oever vanaf R ≈ 5–10; bij R = 50–100 raken segmenten leeg (rood)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Fout per segment daalt van 1.37 (R = 1) naar 0.85 (R = 20); skill t.o.v. naïef stijgt van +23 % naar +29–30 % — hoe fijner, hoe beter</a:t>
            </a:r>
          </a:p>
          <a:p>
            <a:pPr>
              <a:spcAft>
                <a:spcPts val="400"/>
              </a:spcAft>
              <a:defRPr sz="1200" b="0">
                <a:solidFill>
                  <a:srgbClr val="1F3A3D"/>
                </a:solidFill>
              </a:defRPr>
            </a:pPr>
            <a:r>
              <a:t>• Keuze: R = 20 (≈ 5 m). Prijs: 31 % van de segment-datums heeft nog geen meting — dat lossen we op in de lijnbemonstering (60 → meer punten per lijn), niet in het model</a:t>
            </a:r>
          </a:p>
          <a:p>
            <a:pPr>
              <a:spcAft>
                <a:spcPts val="300"/>
              </a:spcAft>
              <a:defRPr sz="1200" b="0">
                <a:solidFill>
                  <a:srgbClr val="1F3A3D"/>
                </a:solidFill>
              </a:defRPr>
            </a:pPr>
            <a:endParaRPr/>
          </a:p>
        </p:txBody>
      </p:sp>
      <p:pic>
        <p:nvPicPr>
          <p:cNvPr id="8" name="Picture 7" descr="horizon_swee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371600"/>
            <a:ext cx="5577840" cy="243396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Alles bij elkaar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Stap voor stap, op één vaste testset — waar zit de winst?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30352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 b="0">
                <a:solidFill>
                  <a:srgbClr val="1F3A3D"/>
                </a:solidFill>
              </a:defRPr>
            </a:pPr>
            <a:r>
              <a:t>• Opschonen: −1.72 m/jr (−43 %) · structurenlaag: ±0 (juistheid/dekking) · historie-features: −0.14 · paren ≥ 2 jaar: andere meetlat, skill +20 → +23 % · segmenten R = 20: skill +29 %, positiefout 0.85 m</a:t>
            </a:r>
          </a:p>
          <a:p>
            <a:pPr>
              <a:spcAft>
                <a:spcPts val="400"/>
              </a:spcAft>
              <a:defRPr sz="1400" b="1">
                <a:solidFill>
                  <a:srgbClr val="1F3A3D"/>
                </a:solidFill>
              </a:defRPr>
            </a:pPr>
            <a:r>
              <a:t>Het model was nooit de bottleneck — de labels waren het. De regels raken op: wat overblijft, kan alleen een mens zien.</a:t>
            </a:r>
          </a:p>
        </p:txBody>
      </p:sp>
      <p:pic>
        <p:nvPicPr>
          <p:cNvPr id="7" name="Picture 6" descr="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371600"/>
            <a:ext cx="11064240" cy="442569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Eindrun — eerlijk gemeten, nieuwe splitsing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Volledige pipeline op een nieuwe 80/20-splitsing, testset buiten de training · alleen binnen een rij vergelijken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645920"/>
          <a:ext cx="11064240" cy="2042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meetlat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LightGBM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risicogevallen &gt; 2 m/jr</a:t>
                      </a:r>
                    </a:p>
                    <a:p>
                      <a:r>
                        <a:t>LGB / naïef</a:t>
                      </a:r>
                    </a:p>
                  </a:txBody>
                  <a:tcPr>
                    <a:solidFill>
                      <a:srgbClr val="E6F5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maart · hoogtemodel · 3–4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0.94  (−20 %)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4.6 / 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19 aug · hybride · 1 jr · per vlak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4.12  (+14 %)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≈ 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zelfde 1-jr meetlat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2.47  (+13 %)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5.0 / 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F3A3D"/>
                          </a:solidFill>
                        </a:defRPr>
                      </a:pPr>
                      <a:r>
                        <a:t>nu · segment R = 5 · paren ≥ 2 jr · eindrun, eerlijk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1.23  (+31 %)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0">
                          <a:solidFill>
                            <a:srgbClr val="1F3A3D"/>
                          </a:solidFill>
                        </a:defRPr>
                      </a:pPr>
                      <a:r>
                        <a:t>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0233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Slide 13 = het experiment op de vaste testset (met test-set early stopping); dit = de volledige pipeline op een nieuwe splitsing zónder de testset in de training — strenger, en daarom hoger: 2.13 → 2.47 en 1.07 → 1.23 (R = 5; R = 20 volgt in de volgende run)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Vlakken met voorspelling 8 006 → 10 721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1.23 is m/jr op de ≥ 2-jaar-meetlat — lees het als '31 % beter dan niets doen', niet als '2× beter dan 2.47'</a:t>
            </a:r>
          </a:p>
          <a:p>
            <a:pPr>
              <a:spcAft>
                <a:spcPts val="400"/>
              </a:spcAft>
              <a:defRPr sz="1300" b="0">
                <a:solidFill>
                  <a:srgbClr val="1F3A3D"/>
                </a:solidFill>
              </a:defRPr>
            </a:pPr>
            <a:r>
              <a:t>• Toezegging 10× (op 4.12): nu 1.7× op die exacte meetlat, met strengere validatie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we vragen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Labelen is trial-and-error — geen eenmalige levering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Hoogtemodel-engineers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De vijfdeling (scope_coverage) meeleveren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lijn een vlag: 'dit is een constructie / verkeerde oever'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Bekende randgevallen: meeroeverig, hoogwater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645920"/>
            <a:ext cx="3566160" cy="548640"/>
          </a:xfrm>
          <a:prstGeom prst="rect">
            <a:avLst/>
          </a:prstGeom>
          <a:solidFill>
            <a:srgbClr val="2BB5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SAM-engineers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Kwaliteitsvlag per meting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Vooral: méér jaren — elk jaar maakt het model vanzelf beter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Waar mogelijk: één lijn per meetmoment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0" y="1645920"/>
            <a:ext cx="3566160" cy="548640"/>
          </a:xfrm>
          <a:prstGeom prst="rect">
            <a:avLst/>
          </a:prstGeom>
          <a:solidFill>
            <a:srgbClr val="E07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Samen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23774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Labelronde in QGIS: wij leveren de gesorteerde lijst twijfelgevallen, jullie het oordeel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Eerste ronde: ~200 vlakken, twee uur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Daarna meten we opnieuw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Wat dit oplevert voor asset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>
                <a:solidFill>
                  <a:srgbClr val="1F3A3D"/>
                </a:solidFill>
              </a:defRPr>
            </a:pPr>
            <a:r>
              <a:t>Van 'dit vlak gemiddeld' naar 'deze 20 meter'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16</a:t>
            </a:r>
          </a:p>
        </p:txBody>
      </p:sp>
      <p:pic>
        <p:nvPicPr>
          <p:cNvPr id="5" name="Picture 4" descr="r5_rijn_12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3388524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173736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Per segment (≈ 5 m) een verwachte positie ≥ 2 jaar vooruit — mediane positiefout ≈ 0.85 m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Een vlak kleurt rood zodra énig segment de signaleringslijn nadert — met het segment erbij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Kribvakken en meerdelige vlakken worden daarmee vanzelf goed behandeld</a:t>
            </a:r>
          </a:p>
          <a:p>
            <a:pPr>
              <a:spcAft>
                <a:spcPts val="600"/>
              </a:spcAft>
              <a:defRPr sz="1500" b="0">
                <a:solidFill>
                  <a:srgbClr val="1F3A3D"/>
                </a:solidFill>
              </a:defRPr>
            </a:pPr>
            <a:r>
              <a:t>• Bestaande stoplicht-kaart en tijdslider blijven; dit komt er als laag bij</a:t>
            </a:r>
          </a:p>
          <a:p>
            <a:pPr>
              <a:spcAft>
                <a:spcPts val="600"/>
              </a:spcAft>
              <a:defRPr sz="1500" b="1">
                <a:solidFill>
                  <a:srgbClr val="1F3A3D"/>
                </a:solidFill>
              </a:defRPr>
            </a:pPr>
            <a:r>
              <a:t>Status: segmentvoorspellingen staan klaar; koppeling aan het VVR-alarm is de volgende stap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2BB5A6"/>
                </a:solidFill>
              </a:defRPr>
            </a:pPr>
            <a:r>
              <a:t>Samenvattend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B7778"/>
                </a:solidFill>
              </a:defRPr>
            </a:pPr>
            <a:r>
              <a:t>Oevererosietool · update 26-08-2026 ·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Model: klaar en eerlijk gevalideerd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Hybride bron, opschoonregels, historie-features, testset buiten de training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Van lijn naar oever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Twintig segmenten per vlak (≈ 5 m); gemeten én voorspelde oever als lijn; positiefout ≈ 0.85 m op ≥ 2 jaar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Bottleneck: gelabelde input, niet het algoritme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Opschonen leverde 12× zoveel als modelleren; de regels raken op — wat overblijft vraagt een oordeel</a:t>
            </a:r>
          </a:p>
          <a:p>
            <a:pPr>
              <a:spcAft>
                <a:spcPts val="800"/>
              </a:spcAft>
              <a:defRPr sz="1800" b="1">
                <a:solidFill>
                  <a:srgbClr val="1F3A3D"/>
                </a:solidFill>
              </a:defRPr>
            </a:pPr>
            <a:r>
              <a:t>Volgende stap</a:t>
            </a:r>
          </a:p>
          <a:p>
            <a:pPr>
              <a:spcAft>
                <a:spcPts val="800"/>
              </a:spcAft>
              <a:defRPr sz="1800" b="0">
                <a:solidFill>
                  <a:srgbClr val="1F3A3D"/>
                </a:solidFill>
              </a:defRPr>
            </a:pPr>
            <a:r>
              <a:t>• Labelronde met SAM- en hoogtemodel-engineers · VVR-alarm op segmentniveau · daarna opnieuw meten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2149</Words>
  <Application>Microsoft Macintosh PowerPoint</Application>
  <PresentationFormat>Widescreen</PresentationFormat>
  <Paragraphs>195</Paragraphs>
  <Slides>18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Alexander Bakker</cp:lastModifiedBy>
  <cp:revision>5</cp:revision>
  <dcterms:created xsi:type="dcterms:W3CDTF">2013-01-27T09:14:16Z</dcterms:created>
  <dcterms:modified xsi:type="dcterms:W3CDTF">2026-08-26T10:25:33Z</dcterms:modified>
  <cp:category/>
</cp:coreProperties>
</file>